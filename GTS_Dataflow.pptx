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654" autoAdjust="0"/>
  </p:normalViewPr>
  <p:slideViewPr>
    <p:cSldViewPr snapToGrid="0" snapToObjects="1">
      <p:cViewPr varScale="1">
        <p:scale>
          <a:sx n="66" d="100"/>
          <a:sy n="66" d="100"/>
        </p:scale>
        <p:origin x="13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22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789CF-C068-105E-609C-29D9DEEF60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6138" y="6672580"/>
            <a:ext cx="3603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731520" y="16504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0E7C86"/>
                </a:solidFill>
                <a:latin typeface="Arial"/>
              </a:rPr>
              <a:t>GROUND TRUTH SYSTEM DATA WORKFLOW </a:t>
            </a:r>
            <a:r>
              <a:rPr sz="1400" b="1" dirty="0">
                <a:solidFill>
                  <a:srgbClr val="0E7C86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31520" y="2061972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dirty="0">
                <a:solidFill>
                  <a:srgbClr val="1F3A5F"/>
                </a:solidFill>
                <a:latin typeface="Arial"/>
              </a:rPr>
              <a:t>From the </a:t>
            </a:r>
            <a:r>
              <a:rPr lang="en-US" sz="4400" b="1" dirty="0">
                <a:solidFill>
                  <a:srgbClr val="1F3A5F"/>
                </a:solidFill>
                <a:latin typeface="Arial"/>
              </a:rPr>
              <a:t>C</a:t>
            </a:r>
            <a:r>
              <a:rPr sz="4400" b="1" dirty="0">
                <a:solidFill>
                  <a:srgbClr val="1F3A5F"/>
                </a:solidFill>
                <a:latin typeface="Arial"/>
              </a:rPr>
              <a:t>abin to </a:t>
            </a:r>
            <a:r>
              <a:rPr lang="en-US" sz="4400" b="1" dirty="0">
                <a:solidFill>
                  <a:srgbClr val="1F3A5F"/>
                </a:solidFill>
                <a:latin typeface="Arial"/>
              </a:rPr>
              <a:t>U</a:t>
            </a:r>
            <a:r>
              <a:rPr sz="4400" b="1" dirty="0">
                <a:solidFill>
                  <a:srgbClr val="1F3A5F"/>
                </a:solidFill>
                <a:latin typeface="Arial"/>
              </a:rPr>
              <a:t>sable </a:t>
            </a:r>
            <a:r>
              <a:rPr lang="en-US" sz="4400" b="1" dirty="0">
                <a:solidFill>
                  <a:srgbClr val="1F3A5F"/>
                </a:solidFill>
                <a:latin typeface="Arial"/>
              </a:rPr>
              <a:t>D</a:t>
            </a:r>
            <a:r>
              <a:rPr sz="4400" b="1" dirty="0">
                <a:solidFill>
                  <a:srgbClr val="1F3A5F"/>
                </a:solidFill>
                <a:latin typeface="Arial"/>
              </a:rPr>
              <a:t>ata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731520" y="299466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dirty="0">
                <a:solidFill>
                  <a:srgbClr val="4F5F70"/>
                </a:solidFill>
                <a:latin typeface="Arial"/>
              </a:rPr>
              <a:t>How </a:t>
            </a:r>
            <a:r>
              <a:rPr lang="en-US" sz="2200" b="0" dirty="0">
                <a:solidFill>
                  <a:srgbClr val="4F5F70"/>
                </a:solidFill>
                <a:latin typeface="Arial"/>
              </a:rPr>
              <a:t>vehicle </a:t>
            </a:r>
            <a:r>
              <a:rPr sz="2200" b="0" dirty="0">
                <a:solidFill>
                  <a:srgbClr val="4F5F70"/>
                </a:solidFill>
                <a:latin typeface="Arial"/>
              </a:rPr>
              <a:t>in-cabin data is collected, labelled, uploaded to the cloud and used to measure KPIs and train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053328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endParaRPr sz="1200" b="0" dirty="0">
              <a:solidFill>
                <a:srgbClr val="DCE6F0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6053328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2800" b="1" dirty="0">
                <a:solidFill>
                  <a:srgbClr val="1F3A5F"/>
                </a:solidFill>
                <a:latin typeface="Arial"/>
              </a:rPr>
              <a:t>The Life Of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1127455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F5F70"/>
                </a:solidFill>
                <a:latin typeface="Arial"/>
              </a:rPr>
              <a:t>Four stages turn what happens in the cabin into labelled data in the cloud, ready to be 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2728"/>
            <a:ext cx="11274552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dirty="0">
                <a:solidFill>
                  <a:srgbClr val="8A97A6"/>
                </a:solidFill>
                <a:latin typeface="Arial"/>
              </a:rPr>
              <a:t>Ground Truth System Data 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8A97A6"/>
                </a:solidFill>
                <a:latin typeface="Arial"/>
              </a:rPr>
              <a:t>2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510028" cy="214884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29184" rIns="54864" bIns="91440" rtlCol="0" anchor="t">
            <a:noAutofit/>
          </a:bodyPr>
          <a:lstStyle/>
          <a:p>
            <a:pPr algn="ctr"/>
            <a:r>
              <a:rPr sz="1900" b="1" dirty="0">
                <a:solidFill>
                  <a:srgbClr val="1F3A5F"/>
                </a:solidFill>
                <a:latin typeface="Arial"/>
              </a:rPr>
              <a:t>Collect</a:t>
            </a:r>
          </a:p>
          <a:p>
            <a:pPr algn="ctr">
              <a:spcBef>
                <a:spcPts val="800"/>
              </a:spcBef>
            </a:pPr>
            <a:r>
              <a:rPr sz="1350" b="0" dirty="0">
                <a:solidFill>
                  <a:srgbClr val="1F3A5F"/>
                </a:solidFill>
                <a:latin typeface="Arial"/>
              </a:rPr>
              <a:t>Capture every </a:t>
            </a:r>
            <a:r>
              <a:rPr lang="en-US" sz="1350" b="0" dirty="0">
                <a:solidFill>
                  <a:srgbClr val="1F3A5F"/>
                </a:solidFill>
                <a:latin typeface="Arial"/>
              </a:rPr>
              <a:t>data </a:t>
            </a:r>
            <a:r>
              <a:rPr sz="1350" b="0" dirty="0">
                <a:solidFill>
                  <a:srgbClr val="1F3A5F"/>
                </a:solidFill>
                <a:latin typeface="Arial"/>
              </a:rPr>
              <a:t>source on one timeline and record each session</a:t>
            </a:r>
          </a:p>
          <a:p>
            <a:pPr algn="ctr">
              <a:spcBef>
                <a:spcPts val="1200"/>
              </a:spcBef>
            </a:pPr>
            <a:r>
              <a:rPr sz="1100" b="1" dirty="0">
                <a:solidFill>
                  <a:srgbClr val="0E7C86"/>
                </a:solidFill>
                <a:latin typeface="Arial"/>
              </a:rPr>
              <a:t>capture · </a:t>
            </a:r>
            <a:r>
              <a:rPr sz="1100" b="1" dirty="0" err="1">
                <a:solidFill>
                  <a:srgbClr val="0E7C86"/>
                </a:solidFill>
                <a:latin typeface="Arial"/>
              </a:rPr>
              <a:t>synchronise</a:t>
            </a:r>
            <a:r>
              <a:rPr sz="1100" b="1" dirty="0">
                <a:solidFill>
                  <a:srgbClr val="0E7C86"/>
                </a:solidFill>
                <a:latin typeface="Arial"/>
              </a:rPr>
              <a:t> · record</a:t>
            </a:r>
          </a:p>
        </p:txBody>
      </p:sp>
      <p:sp>
        <p:nvSpPr>
          <p:cNvPr id="8" name="Oval 7"/>
          <p:cNvSpPr/>
          <p:nvPr/>
        </p:nvSpPr>
        <p:spPr>
          <a:xfrm>
            <a:off x="1511046" y="1719072"/>
            <a:ext cx="402336" cy="40233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8708" y="1920240"/>
            <a:ext cx="2510028" cy="214884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29184" rIns="54864" bIns="91440" rtlCol="0" anchor="t">
            <a:noAutofit/>
          </a:bodyPr>
          <a:lstStyle/>
          <a:p>
            <a:pPr algn="ctr"/>
            <a:r>
              <a:rPr sz="1900" b="1">
                <a:solidFill>
                  <a:srgbClr val="1F3A5F"/>
                </a:solidFill>
                <a:latin typeface="Arial"/>
              </a:rPr>
              <a:t>Label</a:t>
            </a:r>
          </a:p>
          <a:p>
            <a:pPr algn="ctr">
              <a:spcBef>
                <a:spcPts val="800"/>
              </a:spcBef>
            </a:pPr>
            <a:r>
              <a:rPr sz="1350" b="0">
                <a:solidFill>
                  <a:srgbClr val="1F3A5F"/>
                </a:solidFill>
                <a:latin typeface="Arial"/>
              </a:rPr>
              <a:t>Add the context and the ground truth that make the data usable</a:t>
            </a:r>
          </a:p>
          <a:p>
            <a:pPr algn="ctr">
              <a:spcBef>
                <a:spcPts val="1200"/>
              </a:spcBef>
            </a:pPr>
            <a:r>
              <a:rPr sz="1100" b="1">
                <a:solidFill>
                  <a:srgbClr val="0E7C86"/>
                </a:solidFill>
                <a:latin typeface="Arial"/>
              </a:rPr>
              <a:t>recording labels · frame labels</a:t>
            </a:r>
          </a:p>
        </p:txBody>
      </p:sp>
      <p:sp>
        <p:nvSpPr>
          <p:cNvPr id="10" name="Oval 9"/>
          <p:cNvSpPr/>
          <p:nvPr/>
        </p:nvSpPr>
        <p:spPr>
          <a:xfrm>
            <a:off x="4432554" y="1719072"/>
            <a:ext cx="402336" cy="40233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2948" y="2994660"/>
            <a:ext cx="320040" cy="0"/>
          </a:xfrm>
          <a:prstGeom prst="line">
            <a:avLst/>
          </a:prstGeom>
          <a:ln w="22225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216" y="1920240"/>
            <a:ext cx="2510028" cy="214884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29184" rIns="54864" bIns="91440" rtlCol="0" anchor="t">
            <a:noAutofit/>
          </a:bodyPr>
          <a:lstStyle/>
          <a:p>
            <a:pPr algn="ctr"/>
            <a:r>
              <a:rPr sz="1900" b="1" dirty="0">
                <a:solidFill>
                  <a:srgbClr val="1F3A5F"/>
                </a:solidFill>
                <a:latin typeface="Arial"/>
              </a:rPr>
              <a:t>Upload</a:t>
            </a:r>
          </a:p>
          <a:p>
            <a:pPr algn="ctr">
              <a:spcBef>
                <a:spcPts val="800"/>
              </a:spcBef>
            </a:pPr>
            <a:r>
              <a:rPr sz="1350" b="0" dirty="0">
                <a:solidFill>
                  <a:srgbClr val="1F3A5F"/>
                </a:solidFill>
                <a:latin typeface="Arial"/>
              </a:rPr>
              <a:t>Bundle each recording with its labels and send it to the cloud</a:t>
            </a:r>
          </a:p>
          <a:p>
            <a:pPr algn="ctr">
              <a:spcBef>
                <a:spcPts val="1200"/>
              </a:spcBef>
            </a:pPr>
            <a:r>
              <a:rPr sz="1100" b="1" dirty="0">
                <a:solidFill>
                  <a:srgbClr val="0E7C86"/>
                </a:solidFill>
                <a:latin typeface="Arial"/>
              </a:rPr>
              <a:t>package · upload to </a:t>
            </a:r>
            <a:r>
              <a:rPr lang="en-US" sz="1100" b="1" dirty="0">
                <a:solidFill>
                  <a:srgbClr val="0E7C86"/>
                </a:solidFill>
                <a:latin typeface="Arial"/>
              </a:rPr>
              <a:t>database</a:t>
            </a:r>
            <a:endParaRPr sz="1100" b="1" dirty="0">
              <a:solidFill>
                <a:srgbClr val="0E7C86"/>
              </a:solidFill>
              <a:latin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354062" y="1719072"/>
            <a:ext cx="402336" cy="40233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34456" y="2994660"/>
            <a:ext cx="320040" cy="0"/>
          </a:xfrm>
          <a:prstGeom prst="line">
            <a:avLst/>
          </a:prstGeom>
          <a:ln w="22225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21724" y="1920240"/>
            <a:ext cx="2510028" cy="214884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29184" rIns="54864" bIns="91440" rtlCol="0" anchor="t">
            <a:noAutofit/>
          </a:bodyPr>
          <a:lstStyle/>
          <a:p>
            <a:pPr algn="ctr"/>
            <a:r>
              <a:rPr sz="1900" b="1">
                <a:solidFill>
                  <a:srgbClr val="1F3A5F"/>
                </a:solidFill>
                <a:latin typeface="Arial"/>
              </a:rPr>
              <a:t>Use</a:t>
            </a:r>
          </a:p>
          <a:p>
            <a:pPr algn="ctr">
              <a:spcBef>
                <a:spcPts val="800"/>
              </a:spcBef>
            </a:pPr>
            <a:r>
              <a:rPr sz="1350" b="0">
                <a:solidFill>
                  <a:srgbClr val="1F3A5F"/>
                </a:solidFill>
                <a:latin typeface="Arial"/>
              </a:rPr>
              <a:t>Measure KPIs and train algorithms with the labelled data</a:t>
            </a:r>
          </a:p>
          <a:p>
            <a:pPr algn="ctr">
              <a:spcBef>
                <a:spcPts val="1200"/>
              </a:spcBef>
            </a:pPr>
            <a:r>
              <a:rPr sz="1100" b="1">
                <a:solidFill>
                  <a:srgbClr val="0E7C86"/>
                </a:solidFill>
                <a:latin typeface="Arial"/>
              </a:rPr>
              <a:t>measure KPIs · train algorithms</a:t>
            </a:r>
          </a:p>
        </p:txBody>
      </p:sp>
      <p:sp>
        <p:nvSpPr>
          <p:cNvPr id="16" name="Oval 15"/>
          <p:cNvSpPr/>
          <p:nvPr/>
        </p:nvSpPr>
        <p:spPr>
          <a:xfrm>
            <a:off x="10275570" y="1719072"/>
            <a:ext cx="402336" cy="40233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5964" y="2994660"/>
            <a:ext cx="320040" cy="0"/>
          </a:xfrm>
          <a:prstGeom prst="line">
            <a:avLst/>
          </a:prstGeom>
          <a:ln w="22225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4526279"/>
            <a:ext cx="11274552" cy="1257299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73342" cy="125729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1090879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1" dirty="0">
                <a:solidFill>
                  <a:srgbClr val="1F3A5F"/>
                </a:solidFill>
                <a:latin typeface="Arial"/>
              </a:rPr>
              <a:t>Why does the data matter?  </a:t>
            </a:r>
            <a:endParaRPr lang="en-US" sz="1600" b="1" dirty="0">
              <a:solidFill>
                <a:srgbClr val="1F3A5F"/>
              </a:solidFill>
              <a:latin typeface="Arial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The device under test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/development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is an in-cabin camera system that monitors 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a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car 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driver</a:t>
            </a:r>
            <a:r>
              <a:rPr lang="en-US" sz="1600" dirty="0">
                <a:solidFill>
                  <a:srgbClr val="2B2B2B"/>
                </a:solidFill>
                <a:latin typeface="Arial"/>
              </a:rPr>
              <a:t>’s alertness level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. </a:t>
            </a:r>
            <a:endParaRPr lang="en-US" sz="1600" b="0" dirty="0">
              <a:solidFill>
                <a:srgbClr val="2B2B2B"/>
              </a:solidFill>
              <a:latin typeface="Arial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Labelled recordings show how well it performs today, and they are what tomorrow's algorithms learn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2800" b="1" dirty="0">
                <a:solidFill>
                  <a:srgbClr val="1F3A5F"/>
                </a:solidFill>
                <a:latin typeface="Arial"/>
              </a:rPr>
              <a:t>Collect: Many Sources, One Timeline</a:t>
            </a:r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457200" y="1252728"/>
            <a:ext cx="11274552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Pentagon 3"/>
          <p:cNvSpPr/>
          <p:nvPr>
            <p:custDataLst>
              <p:tags r:id="rId2"/>
            </p:custDataLst>
          </p:nvPr>
        </p:nvSpPr>
        <p:spPr>
          <a:xfrm>
            <a:off x="457200" y="1389888"/>
            <a:ext cx="2890647" cy="329184"/>
          </a:xfrm>
          <a:prstGeom prst="homePlat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 · Collect</a:t>
            </a:r>
          </a:p>
        </p:txBody>
      </p:sp>
      <p:sp>
        <p:nvSpPr>
          <p:cNvPr id="5" name="Chevron 4"/>
          <p:cNvSpPr/>
          <p:nvPr>
            <p:custDataLst>
              <p:tags r:id="rId3"/>
            </p:custDataLst>
          </p:nvPr>
        </p:nvSpPr>
        <p:spPr>
          <a:xfrm>
            <a:off x="325183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2 · Label</a:t>
            </a:r>
          </a:p>
        </p:txBody>
      </p:sp>
      <p:sp>
        <p:nvSpPr>
          <p:cNvPr id="6" name="Chevron 5"/>
          <p:cNvSpPr/>
          <p:nvPr>
            <p:custDataLst>
              <p:tags r:id="rId4"/>
            </p:custDataLst>
          </p:nvPr>
        </p:nvSpPr>
        <p:spPr>
          <a:xfrm>
            <a:off x="6046470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3 · Upload</a:t>
            </a:r>
          </a:p>
        </p:txBody>
      </p:sp>
      <p:sp>
        <p:nvSpPr>
          <p:cNvPr id="7" name="Chevron 6"/>
          <p:cNvSpPr/>
          <p:nvPr>
            <p:custDataLst>
              <p:tags r:id="rId5"/>
            </p:custDataLst>
          </p:nvPr>
        </p:nvSpPr>
        <p:spPr>
          <a:xfrm>
            <a:off x="884110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4 ·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dirty="0">
                <a:solidFill>
                  <a:srgbClr val="8A97A6"/>
                </a:solidFill>
                <a:latin typeface="Arial"/>
              </a:rPr>
              <a:t>Ground Truth System Data Workflow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8A97A6"/>
                </a:solidFill>
                <a:latin typeface="Arial"/>
              </a:rPr>
              <a:t>3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6537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8A97A6"/>
                </a:solidFill>
                <a:latin typeface="Arial"/>
              </a:rPr>
              <a:t>WHAT WE CAPTURE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3749039" cy="6858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15875">
            <a:solidFill>
              <a:srgbClr val="7A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27432" bIns="27432" rtlCol="0" anchor="ctr">
            <a:noAutofit/>
          </a:bodyPr>
          <a:lstStyle/>
          <a:p>
            <a:pPr algn="l"/>
            <a:r>
              <a:rPr sz="1350" b="1" dirty="0">
                <a:solidFill>
                  <a:srgbClr val="2B2B2B"/>
                </a:solidFill>
                <a:latin typeface="Arial"/>
              </a:rPr>
              <a:t>Reference cameras</a:t>
            </a:r>
          </a:p>
          <a:p>
            <a:pPr algn="l">
              <a:spcBef>
                <a:spcPts val="200"/>
              </a:spcBef>
            </a:pPr>
            <a:r>
              <a:rPr sz="1150" b="0" dirty="0">
                <a:solidFill>
                  <a:srgbClr val="2B2B2B"/>
                </a:solidFill>
                <a:latin typeface="Arial"/>
              </a:rPr>
              <a:t>High-quality views of the driver from </a:t>
            </a:r>
            <a:r>
              <a:rPr lang="en-US" sz="1150" b="0" dirty="0">
                <a:solidFill>
                  <a:srgbClr val="2B2B2B"/>
                </a:solidFill>
                <a:latin typeface="Arial"/>
              </a:rPr>
              <a:t>multiple</a:t>
            </a:r>
            <a:r>
              <a:rPr sz="1150" b="0" dirty="0">
                <a:solidFill>
                  <a:srgbClr val="2B2B2B"/>
                </a:solidFill>
                <a:latin typeface="Arial"/>
              </a:rPr>
              <a:t> angles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42816" y="2446020"/>
            <a:ext cx="384048" cy="0"/>
          </a:xfrm>
          <a:prstGeom prst="line">
            <a:avLst/>
          </a:prstGeom>
          <a:ln w="190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2843784"/>
            <a:ext cx="3749039" cy="6858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15875">
            <a:solidFill>
              <a:srgbClr val="7A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27432" bIns="27432" rtlCol="0" anchor="ctr">
            <a:noAutofit/>
          </a:bodyPr>
          <a:lstStyle/>
          <a:p>
            <a:pPr algn="l"/>
            <a:r>
              <a:rPr sz="1350" b="1" dirty="0">
                <a:solidFill>
                  <a:srgbClr val="2B2B2B"/>
                </a:solidFill>
                <a:latin typeface="Arial"/>
              </a:rPr>
              <a:t>Device under test</a:t>
            </a:r>
          </a:p>
          <a:p>
            <a:pPr algn="l">
              <a:spcBef>
                <a:spcPts val="200"/>
              </a:spcBef>
            </a:pPr>
            <a:r>
              <a:rPr sz="1150" b="0" dirty="0">
                <a:solidFill>
                  <a:srgbClr val="2B2B2B"/>
                </a:solidFill>
                <a:latin typeface="Arial"/>
              </a:rPr>
              <a:t>Its own camera, plus what </a:t>
            </a:r>
            <a:r>
              <a:rPr lang="en-US" sz="1150" b="0" dirty="0">
                <a:solidFill>
                  <a:srgbClr val="2B2B2B"/>
                </a:solidFill>
                <a:latin typeface="Arial"/>
              </a:rPr>
              <a:t>algorithm</a:t>
            </a:r>
            <a:r>
              <a:rPr sz="1150" b="0" dirty="0">
                <a:solidFill>
                  <a:srgbClr val="2B2B2B"/>
                </a:solidFill>
                <a:latin typeface="Arial"/>
              </a:rPr>
              <a:t> detects, such as gaze</a:t>
            </a:r>
            <a:r>
              <a:rPr lang="en-US" sz="1150" b="0" dirty="0">
                <a:solidFill>
                  <a:srgbClr val="2B2B2B"/>
                </a:solidFill>
                <a:latin typeface="Arial"/>
              </a:rPr>
              <a:t>,</a:t>
            </a:r>
            <a:r>
              <a:rPr sz="1150" b="0" dirty="0">
                <a:solidFill>
                  <a:srgbClr val="2B2B2B"/>
                </a:solidFill>
                <a:latin typeface="Arial"/>
              </a:rPr>
              <a:t> </a:t>
            </a:r>
            <a:r>
              <a:rPr lang="en-US" sz="1150" dirty="0">
                <a:solidFill>
                  <a:srgbClr val="2B2B2B"/>
                </a:solidFill>
                <a:latin typeface="Arial"/>
              </a:rPr>
              <a:t>alertness level</a:t>
            </a:r>
            <a:endParaRPr sz="1150" b="0" dirty="0">
              <a:solidFill>
                <a:srgbClr val="2B2B2B"/>
              </a:solidFill>
              <a:latin typeface="Arial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242816" y="3186684"/>
            <a:ext cx="384048" cy="0"/>
          </a:xfrm>
          <a:prstGeom prst="line">
            <a:avLst/>
          </a:prstGeom>
          <a:ln w="190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584448"/>
            <a:ext cx="3749039" cy="6858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15875">
            <a:solidFill>
              <a:srgbClr val="7A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27432" bIns="27432" rtlCol="0" anchor="ctr">
            <a:noAutofit/>
          </a:bodyPr>
          <a:lstStyle/>
          <a:p>
            <a:pPr algn="l"/>
            <a:r>
              <a:rPr sz="1350" b="1" dirty="0">
                <a:solidFill>
                  <a:srgbClr val="2B2B2B"/>
                </a:solidFill>
                <a:latin typeface="Arial"/>
              </a:rPr>
              <a:t>Scene camera</a:t>
            </a:r>
          </a:p>
          <a:p>
            <a:pPr algn="l">
              <a:spcBef>
                <a:spcPts val="200"/>
              </a:spcBef>
            </a:pPr>
            <a:r>
              <a:rPr sz="1150" b="0" dirty="0">
                <a:solidFill>
                  <a:srgbClr val="2B2B2B"/>
                </a:solidFill>
                <a:latin typeface="Arial"/>
              </a:rPr>
              <a:t>An ordinary camera that films the whole scene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42816" y="3927348"/>
            <a:ext cx="384048" cy="0"/>
          </a:xfrm>
          <a:prstGeom prst="line">
            <a:avLst/>
          </a:prstGeom>
          <a:ln w="190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4325112"/>
            <a:ext cx="3749039" cy="6858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15875">
            <a:solidFill>
              <a:srgbClr val="7A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27432" bIns="27432" rtlCol="0" anchor="ctr">
            <a:noAutofit/>
          </a:bodyPr>
          <a:lstStyle/>
          <a:p>
            <a:pPr algn="l"/>
            <a:r>
              <a:rPr sz="1350" b="1" dirty="0">
                <a:solidFill>
                  <a:srgbClr val="2B2B2B"/>
                </a:solidFill>
                <a:latin typeface="Arial"/>
              </a:rPr>
              <a:t>Motion capture</a:t>
            </a:r>
          </a:p>
          <a:p>
            <a:pPr algn="l">
              <a:spcBef>
                <a:spcPts val="200"/>
              </a:spcBef>
            </a:pPr>
            <a:r>
              <a:rPr sz="1150" b="0" dirty="0">
                <a:solidFill>
                  <a:srgbClr val="2B2B2B"/>
                </a:solidFill>
                <a:latin typeface="Arial"/>
              </a:rPr>
              <a:t>Tracks the position and rotation of the driver's head precisely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42816" y="4668012"/>
            <a:ext cx="384048" cy="0"/>
          </a:xfrm>
          <a:prstGeom prst="line">
            <a:avLst/>
          </a:prstGeom>
          <a:ln w="190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5065776"/>
            <a:ext cx="3749039" cy="6858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15875">
            <a:solidFill>
              <a:srgbClr val="7A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27432" bIns="27432" rtlCol="0" anchor="ctr">
            <a:noAutofit/>
          </a:bodyPr>
          <a:lstStyle/>
          <a:p>
            <a:pPr algn="l"/>
            <a:r>
              <a:rPr sz="1350" b="1">
                <a:solidFill>
                  <a:srgbClr val="2B2B2B"/>
                </a:solidFill>
                <a:latin typeface="Arial"/>
              </a:rPr>
              <a:t>Driver vital signs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B2B2B"/>
                </a:solidFill>
                <a:latin typeface="Arial"/>
              </a:rPr>
              <a:t>Heart rate, breathing rate, blood pressure, alcohol level and more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42816" y="5408676"/>
            <a:ext cx="384048" cy="0"/>
          </a:xfrm>
          <a:prstGeom prst="line">
            <a:avLst/>
          </a:prstGeom>
          <a:ln w="190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63440" y="1865376"/>
            <a:ext cx="7068312" cy="3886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865376"/>
            <a:ext cx="64008" cy="3886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56048" y="2002536"/>
            <a:ext cx="6583680" cy="3611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1" dirty="0">
                <a:solidFill>
                  <a:srgbClr val="1F3A5F"/>
                </a:solidFill>
                <a:latin typeface="Arial"/>
              </a:rPr>
              <a:t>From signals to a recording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0E7C86"/>
                </a:solidFill>
                <a:latin typeface="Arial"/>
              </a:rPr>
              <a:t>Translate.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A small adapter program per source converts its data into one common format</a:t>
            </a:r>
            <a:r>
              <a:rPr lang="en-US" sz="1500" b="0" dirty="0">
                <a:solidFill>
                  <a:srgbClr val="2B2B2B"/>
                </a:solidFill>
                <a:latin typeface="Arial"/>
              </a:rPr>
              <a:t> and checks </a:t>
            </a:r>
            <a:r>
              <a:rPr lang="en-US" sz="1500" dirty="0">
                <a:solidFill>
                  <a:srgbClr val="2B2B2B"/>
                </a:solidFill>
                <a:latin typeface="Arial"/>
              </a:rPr>
              <a:t>data validity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500" b="1" dirty="0">
                <a:solidFill>
                  <a:srgbClr val="0E7C86"/>
                </a:solidFill>
                <a:latin typeface="Arial"/>
              </a:rPr>
              <a:t>Time-stamp.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Every frame and measurement gets a time from one shared clock, so all sources line up.</a:t>
            </a:r>
          </a:p>
          <a:p>
            <a:pPr algn="l">
              <a:spcAft>
                <a:spcPts val="1000"/>
              </a:spcAft>
            </a:pPr>
            <a:r>
              <a:rPr sz="1500" b="1" dirty="0">
                <a:solidFill>
                  <a:srgbClr val="0E7C86"/>
                </a:solidFill>
                <a:latin typeface="Arial"/>
              </a:rPr>
              <a:t>Count.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Frames are numbered, so missing frames can be spotted.</a:t>
            </a:r>
          </a:p>
          <a:p>
            <a:pPr algn="l">
              <a:spcAft>
                <a:spcPts val="1000"/>
              </a:spcAft>
            </a:pPr>
            <a:r>
              <a:rPr sz="1500" b="1" dirty="0">
                <a:solidFill>
                  <a:srgbClr val="0E7C86"/>
                </a:solidFill>
                <a:latin typeface="Arial"/>
              </a:rPr>
              <a:t>Watch.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Operators check the live streams, so problems are caught during the session.</a:t>
            </a:r>
          </a:p>
          <a:p>
            <a:pPr algn="l">
              <a:spcAft>
                <a:spcPts val="1000"/>
              </a:spcAft>
            </a:pPr>
            <a:r>
              <a:rPr sz="1500" b="1" dirty="0">
                <a:solidFill>
                  <a:srgbClr val="0E7C86"/>
                </a:solidFill>
                <a:latin typeface="Arial"/>
              </a:rPr>
              <a:t>Record.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Every stream is saved in full, in one recording per session.</a:t>
            </a:r>
          </a:p>
        </p:txBody>
      </p:sp>
      <p:sp>
        <p:nvSpPr>
          <p:cNvPr id="24" name="Rectangle 23"/>
          <p:cNvSpPr/>
          <p:nvPr>
            <p:custDataLst>
              <p:tags r:id="rId6"/>
            </p:custDataLst>
          </p:nvPr>
        </p:nvSpPr>
        <p:spPr>
          <a:xfrm>
            <a:off x="457200" y="5843016"/>
            <a:ext cx="11274552" cy="438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>
            <p:custDataLst>
              <p:tags r:id="rId7"/>
            </p:custDataLst>
          </p:nvPr>
        </p:nvSpPr>
        <p:spPr>
          <a:xfrm>
            <a:off x="457200" y="5843016"/>
            <a:ext cx="64008" cy="4389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685800" y="5843016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Arial"/>
              </a:rPr>
              <a:t>Result:  </a:t>
            </a:r>
            <a:r>
              <a:rPr sz="1500" b="0">
                <a:solidFill>
                  <a:srgbClr val="2B2B2B"/>
                </a:solidFill>
                <a:latin typeface="Arial"/>
              </a:rPr>
              <a:t>one complete recording per session, with every stream on the same timeline.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2800" b="1" dirty="0">
                <a:solidFill>
                  <a:srgbClr val="1F3A5F"/>
                </a:solidFill>
                <a:latin typeface="Arial"/>
              </a:rPr>
              <a:t>Label: Make The Data Usable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52728"/>
            <a:ext cx="11274552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>
            <p:custDataLst>
              <p:tags r:id="rId1"/>
            </p:custDataLst>
          </p:nvPr>
        </p:nvSpPr>
        <p:spPr>
          <a:xfrm>
            <a:off x="457200" y="1389888"/>
            <a:ext cx="2890647" cy="329184"/>
          </a:xfrm>
          <a:prstGeom prst="homePlate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1 · Collect</a:t>
            </a:r>
          </a:p>
        </p:txBody>
      </p:sp>
      <p:sp>
        <p:nvSpPr>
          <p:cNvPr id="5" name="Chevron 4"/>
          <p:cNvSpPr/>
          <p:nvPr>
            <p:custDataLst>
              <p:tags r:id="rId2"/>
            </p:custDataLst>
          </p:nvPr>
        </p:nvSpPr>
        <p:spPr>
          <a:xfrm>
            <a:off x="3251835" y="1389888"/>
            <a:ext cx="2890647" cy="329184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 · Label</a:t>
            </a:r>
          </a:p>
        </p:txBody>
      </p:sp>
      <p:sp>
        <p:nvSpPr>
          <p:cNvPr id="6" name="Chevron 5"/>
          <p:cNvSpPr/>
          <p:nvPr>
            <p:custDataLst>
              <p:tags r:id="rId3"/>
            </p:custDataLst>
          </p:nvPr>
        </p:nvSpPr>
        <p:spPr>
          <a:xfrm>
            <a:off x="6046470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3 · Upload</a:t>
            </a:r>
          </a:p>
        </p:txBody>
      </p:sp>
      <p:sp>
        <p:nvSpPr>
          <p:cNvPr id="7" name="Chevron 6"/>
          <p:cNvSpPr/>
          <p:nvPr>
            <p:custDataLst>
              <p:tags r:id="rId4"/>
            </p:custDataLst>
          </p:nvPr>
        </p:nvSpPr>
        <p:spPr>
          <a:xfrm>
            <a:off x="884110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4 ·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dirty="0">
                <a:solidFill>
                  <a:srgbClr val="8A97A6"/>
                </a:solidFill>
                <a:latin typeface="Arial"/>
              </a:rPr>
              <a:t>Ground Truth System Data Workflow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8A97A6"/>
                </a:solidFill>
                <a:latin typeface="Arial"/>
              </a:rPr>
              <a:t>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5486400" cy="35661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457200" y="1883664"/>
            <a:ext cx="5486400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731520" y="2139696"/>
            <a:ext cx="498348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dirty="0">
                <a:solidFill>
                  <a:srgbClr val="1F3A5F"/>
                </a:solidFill>
                <a:latin typeface="Arial"/>
              </a:rPr>
              <a:t>Labels for the whole recording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1450" b="0" dirty="0">
                <a:solidFill>
                  <a:srgbClr val="4F5F70"/>
                </a:solidFill>
                <a:latin typeface="Arial"/>
              </a:rPr>
              <a:t>Who and what was recorded, and under which conditions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Scenario: what the driver does, 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e.g.,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with certain 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task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lang="en-US" sz="1600" b="0" dirty="0">
                <a:solidFill>
                  <a:srgbClr val="2B2B2B"/>
                </a:solidFill>
                <a:latin typeface="Arial"/>
              </a:rPr>
              <a:t>Environmental conditions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and seating position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People on board, 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e.g.,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glasses, beard, headgear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lang="en-US" altLang="zh-CN" sz="1600" b="0" dirty="0">
                <a:solidFill>
                  <a:srgbClr val="2B2B2B"/>
                </a:solidFill>
                <a:latin typeface="Arial"/>
              </a:rPr>
              <a:t>Project information</a:t>
            </a:r>
            <a:r>
              <a:rPr lang="en-US" sz="1600" b="0" dirty="0">
                <a:solidFill>
                  <a:srgbClr val="2B2B2B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 </a:t>
            </a:r>
            <a:r>
              <a:rPr lang="en-US" altLang="zh-CN" sz="1600" b="0" dirty="0">
                <a:solidFill>
                  <a:srgbClr val="2B2B2B"/>
                </a:solidFill>
                <a:latin typeface="Arial"/>
              </a:rPr>
              <a:t>hardware 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setup</a:t>
            </a:r>
            <a:r>
              <a:rPr lang="en-US" sz="1600" dirty="0">
                <a:solidFill>
                  <a:srgbClr val="2B2B2B"/>
                </a:solidFill>
                <a:latin typeface="Arial"/>
              </a:rPr>
              <a:t>, e.g., </a:t>
            </a:r>
            <a:r>
              <a:rPr sz="1600" b="0" dirty="0">
                <a:solidFill>
                  <a:srgbClr val="2B2B2B"/>
                </a:solidFill>
                <a:latin typeface="Arial"/>
              </a:rPr>
              <a:t>cameras and sensors used</a:t>
            </a:r>
          </a:p>
          <a:p>
            <a:pPr algn="l">
              <a:spcBef>
                <a:spcPts val="1200"/>
              </a:spcBef>
            </a:pPr>
            <a:r>
              <a:rPr sz="1400" b="0" dirty="0">
                <a:solidFill>
                  <a:srgbClr val="4F5F70"/>
                </a:solidFill>
                <a:latin typeface="Arial"/>
              </a:rPr>
              <a:t>Written into one description file per recording and checked by validation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883664"/>
            <a:ext cx="5486400" cy="35661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6245352" y="1883664"/>
            <a:ext cx="5486400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519672" y="2139696"/>
            <a:ext cx="498348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dirty="0">
                <a:solidFill>
                  <a:srgbClr val="1F3A5F"/>
                </a:solidFill>
                <a:latin typeface="Arial"/>
              </a:rPr>
              <a:t>Labels for every frame: the ground truth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1450" b="0" dirty="0">
                <a:solidFill>
                  <a:srgbClr val="4F5F70"/>
                </a:solidFill>
                <a:latin typeface="Arial"/>
              </a:rPr>
              <a:t>The right answers that the device is measured against and algorithms learn from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Where the driver looks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Position and rotation of the head</a:t>
            </a: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sz="1600" b="0" dirty="0">
                <a:solidFill>
                  <a:srgbClr val="2B2B2B"/>
                </a:solidFill>
                <a:latin typeface="Arial"/>
              </a:rPr>
              <a:t>Eye opening and eye state</a:t>
            </a:r>
            <a:endParaRPr lang="en-US" sz="1600" b="0" dirty="0">
              <a:solidFill>
                <a:srgbClr val="2B2B2B"/>
              </a:solidFill>
              <a:latin typeface="Arial"/>
            </a:endParaRPr>
          </a:p>
          <a:p>
            <a:pPr marL="201168" indent="-201168" algn="l">
              <a:spcAft>
                <a:spcPts val="800"/>
              </a:spcAft>
              <a:buClr>
                <a:srgbClr val="0E7C86"/>
              </a:buClr>
              <a:buFont typeface="Arial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/>
              </a:rPr>
              <a:t>Vital status</a:t>
            </a:r>
            <a:endParaRPr sz="1600" b="0" dirty="0">
              <a:solidFill>
                <a:srgbClr val="2B2B2B"/>
              </a:solidFill>
              <a:latin typeface="Arial"/>
            </a:endParaRPr>
          </a:p>
          <a:p>
            <a:pPr algn="l">
              <a:spcBef>
                <a:spcPts val="1200"/>
              </a:spcBef>
            </a:pPr>
            <a:r>
              <a:rPr sz="1400" b="0" dirty="0">
                <a:solidFill>
                  <a:srgbClr val="4F5F70"/>
                </a:solidFill>
                <a:latin typeface="Arial"/>
              </a:rPr>
              <a:t>From reference sensors such as motion capture and gaze targets, automatic labelling and manual annotation.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64008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66928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Arial"/>
              </a:rPr>
              <a:t>Result:  </a:t>
            </a:r>
            <a:r>
              <a:rPr sz="1500" b="0">
                <a:solidFill>
                  <a:srgbClr val="2B2B2B"/>
                </a:solidFill>
                <a:latin typeface="Arial"/>
              </a:rPr>
              <a:t>every recording carries its context and its right answers, so it can be found, compared and learned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2800" b="1" dirty="0">
                <a:solidFill>
                  <a:srgbClr val="1F3A5F"/>
                </a:solidFill>
                <a:latin typeface="Arial"/>
              </a:rPr>
              <a:t>Upload: Send The Data To The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52728"/>
            <a:ext cx="11274552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>
            <p:custDataLst>
              <p:tags r:id="rId1"/>
            </p:custDataLst>
          </p:nvPr>
        </p:nvSpPr>
        <p:spPr>
          <a:xfrm>
            <a:off x="457200" y="1389888"/>
            <a:ext cx="2890647" cy="329184"/>
          </a:xfrm>
          <a:prstGeom prst="homePlate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1 · Collect</a:t>
            </a:r>
          </a:p>
        </p:txBody>
      </p:sp>
      <p:sp>
        <p:nvSpPr>
          <p:cNvPr id="5" name="Chevron 4"/>
          <p:cNvSpPr/>
          <p:nvPr>
            <p:custDataLst>
              <p:tags r:id="rId2"/>
            </p:custDataLst>
          </p:nvPr>
        </p:nvSpPr>
        <p:spPr>
          <a:xfrm>
            <a:off x="325183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2 · Label</a:t>
            </a:r>
          </a:p>
        </p:txBody>
      </p:sp>
      <p:sp>
        <p:nvSpPr>
          <p:cNvPr id="6" name="Chevron 5"/>
          <p:cNvSpPr/>
          <p:nvPr>
            <p:custDataLst>
              <p:tags r:id="rId3"/>
            </p:custDataLst>
          </p:nvPr>
        </p:nvSpPr>
        <p:spPr>
          <a:xfrm>
            <a:off x="6046470" y="1389888"/>
            <a:ext cx="2890647" cy="329184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 · Upload</a:t>
            </a:r>
          </a:p>
        </p:txBody>
      </p:sp>
      <p:sp>
        <p:nvSpPr>
          <p:cNvPr id="7" name="Chevron 6"/>
          <p:cNvSpPr/>
          <p:nvPr>
            <p:custDataLst>
              <p:tags r:id="rId4"/>
            </p:custDataLst>
          </p:nvPr>
        </p:nvSpPr>
        <p:spPr>
          <a:xfrm>
            <a:off x="884110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4 ·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dirty="0">
                <a:solidFill>
                  <a:srgbClr val="8A97A6"/>
                </a:solidFill>
                <a:latin typeface="Arial"/>
              </a:rPr>
              <a:t>Ground Truth System Data Workflow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8A97A6"/>
                </a:solidFill>
                <a:latin typeface="Arial"/>
              </a:rPr>
              <a:t>5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83664"/>
            <a:ext cx="4262120" cy="356616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9144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3A5F"/>
                </a:solidFill>
                <a:latin typeface="Arial"/>
              </a:rPr>
              <a:t>Package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Bundle everything about one recording into one archive:</a:t>
            </a:r>
          </a:p>
          <a:p>
            <a:pPr marL="201168" indent="-201168" algn="l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the recording itself</a:t>
            </a:r>
          </a:p>
          <a:p>
            <a:pPr marL="201168" indent="-201168" algn="l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its labels and annotations</a:t>
            </a:r>
          </a:p>
          <a:p>
            <a:pPr marL="201168" indent="-201168" algn="l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calibration data</a:t>
            </a:r>
          </a:p>
          <a:p>
            <a:pPr marL="201168" indent="-201168" algn="l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logs</a:t>
            </a:r>
          </a:p>
          <a:p>
            <a:pPr algn="l">
              <a:spcBef>
                <a:spcPts val="1200"/>
              </a:spcBef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The archive is named by the recording's fingerprint (hash), so the cloud can </a:t>
            </a:r>
            <a:r>
              <a:rPr sz="1400" b="0" dirty="0" err="1">
                <a:solidFill>
                  <a:srgbClr val="1F3A5F"/>
                </a:solidFill>
                <a:latin typeface="Arial"/>
              </a:rPr>
              <a:t>recognise</a:t>
            </a:r>
            <a:r>
              <a:rPr sz="1400" b="0" dirty="0">
                <a:solidFill>
                  <a:srgbClr val="1F3A5F"/>
                </a:solidFill>
                <a:latin typeface="Arial"/>
              </a:rPr>
              <a:t>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760" y="1901952"/>
            <a:ext cx="5552440" cy="3566160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9144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3A5F"/>
                </a:solidFill>
                <a:latin typeface="Arial"/>
              </a:rPr>
              <a:t>Upload to </a:t>
            </a:r>
            <a:r>
              <a:rPr lang="en-US" b="1" dirty="0">
                <a:solidFill>
                  <a:srgbClr val="1F3A5F"/>
                </a:solidFill>
                <a:latin typeface="Arial"/>
              </a:rPr>
              <a:t>database on cloud</a:t>
            </a:r>
            <a:endParaRPr sz="1800" b="1" dirty="0">
              <a:solidFill>
                <a:srgbClr val="1F3A5F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An upload tool sends the archive to the cloud recording database:</a:t>
            </a:r>
          </a:p>
          <a:p>
            <a:pPr marL="274320" indent="-274320" algn="l">
              <a:lnSpc>
                <a:spcPct val="150000"/>
              </a:lnSpc>
              <a:spcAft>
                <a:spcPts val="500"/>
              </a:spcAft>
              <a:buClr>
                <a:srgbClr val="0E7C86"/>
              </a:buClr>
              <a:buFont typeface="Arial"/>
              <a:buAutoNum type="arabicPeriod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Sign in with an access key.</a:t>
            </a:r>
          </a:p>
          <a:p>
            <a:pPr marL="274320" indent="-274320" algn="l">
              <a:lnSpc>
                <a:spcPct val="150000"/>
              </a:lnSpc>
              <a:spcAft>
                <a:spcPts val="500"/>
              </a:spcAft>
              <a:buClr>
                <a:srgbClr val="0E7C86"/>
              </a:buClr>
              <a:buFont typeface="Arial"/>
              <a:buAutoNum type="arabicPeriod"/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Look up the fingerprint: not </a:t>
            </a:r>
            <a:r>
              <a:rPr lang="en-US" sz="1400" b="0" dirty="0">
                <a:solidFill>
                  <a:srgbClr val="1F3A5F"/>
                </a:solidFill>
                <a:latin typeface="Arial"/>
              </a:rPr>
              <a:t>to </a:t>
            </a:r>
            <a:r>
              <a:rPr sz="1400" b="0" dirty="0">
                <a:solidFill>
                  <a:srgbClr val="1F3A5F"/>
                </a:solidFill>
                <a:latin typeface="Arial"/>
              </a:rPr>
              <a:t>store twice.</a:t>
            </a:r>
          </a:p>
          <a:p>
            <a:pPr marL="274320" indent="-274320" algn="l">
              <a:lnSpc>
                <a:spcPct val="150000"/>
              </a:lnSpc>
              <a:spcAft>
                <a:spcPts val="500"/>
              </a:spcAft>
              <a:buClr>
                <a:srgbClr val="0E7C86"/>
              </a:buClr>
              <a:buFont typeface="Arial"/>
              <a:buAutoNum type="arabicPeriod"/>
            </a:pPr>
            <a:r>
              <a:rPr lang="en-US" sz="1400" b="0" dirty="0">
                <a:solidFill>
                  <a:srgbClr val="1F3A5F"/>
                </a:solidFill>
                <a:latin typeface="Arial"/>
              </a:rPr>
              <a:t>C</a:t>
            </a:r>
            <a:r>
              <a:rPr sz="1400" b="0" dirty="0">
                <a:solidFill>
                  <a:srgbClr val="1F3A5F"/>
                </a:solidFill>
                <a:latin typeface="Arial"/>
              </a:rPr>
              <a:t>reate a new entry, together with the recording's labels.</a:t>
            </a:r>
          </a:p>
          <a:p>
            <a:pPr marL="274320" indent="-274320" algn="l">
              <a:lnSpc>
                <a:spcPct val="150000"/>
              </a:lnSpc>
              <a:spcAft>
                <a:spcPts val="500"/>
              </a:spcAft>
              <a:buClr>
                <a:srgbClr val="0E7C86"/>
              </a:buClr>
              <a:buFont typeface="Arial"/>
              <a:buAutoNum type="arabicPeriod"/>
            </a:pPr>
            <a:r>
              <a:rPr lang="en-US" sz="1400" b="0" dirty="0">
                <a:solidFill>
                  <a:srgbClr val="1F3A5F"/>
                </a:solidFill>
                <a:latin typeface="Arial"/>
              </a:rPr>
              <a:t>Check</a:t>
            </a:r>
            <a:r>
              <a:rPr sz="1400" b="0" dirty="0">
                <a:solidFill>
                  <a:srgbClr val="1F3A5F"/>
                </a:solidFill>
                <a:latin typeface="Arial"/>
              </a:rPr>
              <a:t> that the upload is complete.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5004308" y="3666744"/>
            <a:ext cx="868172" cy="0"/>
          </a:xfrm>
          <a:prstGeom prst="line">
            <a:avLst/>
          </a:prstGeom>
          <a:ln w="57150">
            <a:solidFill>
              <a:srgbClr val="4F5F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64008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66928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dirty="0">
                <a:solidFill>
                  <a:srgbClr val="1F3A5F"/>
                </a:solidFill>
                <a:latin typeface="Arial"/>
              </a:rPr>
              <a:t>Result:  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each recording becomes one entry in </a:t>
            </a:r>
            <a:r>
              <a:rPr lang="en-US" sz="1500" b="0" dirty="0">
                <a:solidFill>
                  <a:srgbClr val="2B2B2B"/>
                </a:solidFill>
                <a:latin typeface="Arial"/>
              </a:rPr>
              <a:t>the database</a:t>
            </a:r>
            <a:r>
              <a:rPr sz="1500" b="0" dirty="0">
                <a:solidFill>
                  <a:srgbClr val="2B2B2B"/>
                </a:solidFill>
                <a:latin typeface="Arial"/>
              </a:rPr>
              <a:t>, stored together with its labels and ready to be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2800" b="1" dirty="0">
                <a:solidFill>
                  <a:srgbClr val="1F3A5F"/>
                </a:solidFill>
                <a:latin typeface="Arial"/>
              </a:rPr>
              <a:t>Use: Measure KPIs And Train Algorithms</a:t>
            </a:r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457200" y="1252728"/>
            <a:ext cx="11274552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Pentagon 3"/>
          <p:cNvSpPr/>
          <p:nvPr>
            <p:custDataLst>
              <p:tags r:id="rId2"/>
            </p:custDataLst>
          </p:nvPr>
        </p:nvSpPr>
        <p:spPr>
          <a:xfrm>
            <a:off x="457200" y="1389888"/>
            <a:ext cx="2890647" cy="329184"/>
          </a:xfrm>
          <a:prstGeom prst="homePlate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1 · Collect</a:t>
            </a:r>
          </a:p>
        </p:txBody>
      </p:sp>
      <p:sp>
        <p:nvSpPr>
          <p:cNvPr id="5" name="Chevron 4"/>
          <p:cNvSpPr/>
          <p:nvPr>
            <p:custDataLst>
              <p:tags r:id="rId3"/>
            </p:custDataLst>
          </p:nvPr>
        </p:nvSpPr>
        <p:spPr>
          <a:xfrm>
            <a:off x="3251835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2 · Label</a:t>
            </a:r>
          </a:p>
        </p:txBody>
      </p:sp>
      <p:sp>
        <p:nvSpPr>
          <p:cNvPr id="6" name="Chevron 5"/>
          <p:cNvSpPr/>
          <p:nvPr>
            <p:custDataLst>
              <p:tags r:id="rId4"/>
            </p:custDataLst>
          </p:nvPr>
        </p:nvSpPr>
        <p:spPr>
          <a:xfrm>
            <a:off x="6046470" y="1389888"/>
            <a:ext cx="2890647" cy="329184"/>
          </a:xfrm>
          <a:prstGeom prst="chevron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0">
                <a:solidFill>
                  <a:srgbClr val="4F5F70"/>
                </a:solidFill>
                <a:latin typeface="Arial"/>
              </a:rPr>
              <a:t>3 · Upload</a:t>
            </a:r>
          </a:p>
        </p:txBody>
      </p:sp>
      <p:sp>
        <p:nvSpPr>
          <p:cNvPr id="7" name="Chevron 6"/>
          <p:cNvSpPr/>
          <p:nvPr>
            <p:custDataLst>
              <p:tags r:id="rId5"/>
            </p:custDataLst>
          </p:nvPr>
        </p:nvSpPr>
        <p:spPr>
          <a:xfrm>
            <a:off x="8841105" y="1389888"/>
            <a:ext cx="2890647" cy="329184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 ·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dirty="0">
                <a:solidFill>
                  <a:srgbClr val="8A97A6"/>
                </a:solidFill>
                <a:latin typeface="Arial"/>
              </a:rPr>
              <a:t>Ground Truth System Data Workflow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8A97A6"/>
                </a:solidFill>
                <a:latin typeface="Arial"/>
              </a:rPr>
              <a:t>6 / 6</a:t>
            </a:r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457200" y="1883664"/>
            <a:ext cx="6858000" cy="3520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83664"/>
            <a:ext cx="6858000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1883664"/>
            <a:ext cx="4187952" cy="3520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1883664"/>
            <a:ext cx="4187952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731520" y="2139696"/>
            <a:ext cx="635508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F3A5F"/>
                </a:solidFill>
                <a:latin typeface="Arial"/>
              </a:rPr>
              <a:t>Measure KPIs</a:t>
            </a: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2B2B2B"/>
                </a:solidFill>
                <a:latin typeface="Arial"/>
              </a:rPr>
              <a:t>KPI tool lines up the device's results with the ground truth, frame by frame, and measures the differences.</a:t>
            </a:r>
          </a:p>
          <a:p>
            <a:pPr marL="201168" indent="-201168" algn="l"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1400" b="1" dirty="0">
                <a:solidFill>
                  <a:srgbClr val="2B2B2B"/>
                </a:solidFill>
                <a:latin typeface="Arial"/>
              </a:rPr>
              <a:t>Availability: </a:t>
            </a:r>
            <a:r>
              <a:rPr sz="1400" b="0" dirty="0">
                <a:solidFill>
                  <a:srgbClr val="2B2B2B"/>
                </a:solidFill>
                <a:latin typeface="Arial"/>
              </a:rPr>
              <a:t>when the ground truth has a value, how often does the device give a valid one too?</a:t>
            </a:r>
          </a:p>
          <a:p>
            <a:pPr marL="201168" indent="-201168" algn="l">
              <a:buClr>
                <a:srgbClr val="0E7C86"/>
              </a:buClr>
              <a:buFont typeface="Arial"/>
              <a:buChar char="•"/>
            </a:pPr>
            <a:r>
              <a:rPr sz="1400" b="1" dirty="0">
                <a:solidFill>
                  <a:srgbClr val="2B2B2B"/>
                </a:solidFill>
                <a:latin typeface="Arial"/>
              </a:rPr>
              <a:t>Accuracy: </a:t>
            </a:r>
            <a:r>
              <a:rPr sz="1400" b="0" dirty="0">
                <a:solidFill>
                  <a:srgbClr val="2B2B2B"/>
                </a:solidFill>
                <a:latin typeface="Arial"/>
              </a:rPr>
              <a:t>how far off is it?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731520" y="4055364"/>
            <a:ext cx="6355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Arial"/>
              </a:rPr>
              <a:t>Example: eye opening</a:t>
            </a:r>
            <a:r>
              <a:rPr sz="1100" b="0" dirty="0">
                <a:solidFill>
                  <a:srgbClr val="8A97A6"/>
                </a:solidFill>
                <a:latin typeface="Arial"/>
              </a:rPr>
              <a:t>   left eye, one sample recording, test run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731520" y="436778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E7C86"/>
                </a:solidFill>
                <a:latin typeface="Arial"/>
              </a:rPr>
              <a:t>87 %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731520" y="48798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dirty="0">
                <a:solidFill>
                  <a:srgbClr val="4F5F70"/>
                </a:solidFill>
                <a:latin typeface="Arial"/>
              </a:rPr>
              <a:t>valid where the ground truth has a value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023360" y="436778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E7C86"/>
                </a:solidFill>
                <a:latin typeface="Arial"/>
              </a:rPr>
              <a:t>1.5 mm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4023360" y="48798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dirty="0">
                <a:solidFill>
                  <a:srgbClr val="4F5F70"/>
                </a:solidFill>
                <a:latin typeface="Arial"/>
              </a:rPr>
              <a:t>mean absolute</a:t>
            </a:r>
            <a:r>
              <a:rPr sz="1150" b="0" dirty="0">
                <a:solidFill>
                  <a:srgbClr val="4F5F70"/>
                </a:solidFill>
                <a:latin typeface="Arial"/>
              </a:rPr>
              <a:t>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139696"/>
            <a:ext cx="3685032" cy="3154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Arial"/>
              </a:rPr>
              <a:t>Train algorithms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Arial"/>
              </a:rPr>
              <a:t>The same labelled recordings are the raw material for new perception algorithms.</a:t>
            </a:r>
          </a:p>
          <a:p>
            <a:pPr marL="201168" indent="-201168" algn="l"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1400" b="1">
                <a:solidFill>
                  <a:srgbClr val="2B2B2B"/>
                </a:solidFill>
                <a:latin typeface="Arial"/>
              </a:rPr>
              <a:t>Training data: </a:t>
            </a:r>
            <a:r>
              <a:rPr sz="1400" b="0">
                <a:solidFill>
                  <a:srgbClr val="2B2B2B"/>
                </a:solidFill>
                <a:latin typeface="Arial"/>
              </a:rPr>
              <a:t>the ground truth gives the right answer for every frame.</a:t>
            </a:r>
          </a:p>
          <a:p>
            <a:pPr marL="201168" indent="-201168" algn="l"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1400" b="1">
                <a:solidFill>
                  <a:srgbClr val="2B2B2B"/>
                </a:solidFill>
                <a:latin typeface="Arial"/>
              </a:rPr>
              <a:t>Test data: </a:t>
            </a:r>
            <a:r>
              <a:rPr sz="1400" b="0">
                <a:solidFill>
                  <a:srgbClr val="2B2B2B"/>
                </a:solidFill>
                <a:latin typeface="Arial"/>
              </a:rPr>
              <a:t>recordings kept aside check the result with the same KPIs.</a:t>
            </a:r>
          </a:p>
          <a:p>
            <a:pPr marL="201168" indent="-201168" algn="l"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1400" b="1">
                <a:solidFill>
                  <a:srgbClr val="2B2B2B"/>
                </a:solidFill>
                <a:latin typeface="Arial"/>
              </a:rPr>
              <a:t>The right mix: </a:t>
            </a:r>
            <a:r>
              <a:rPr sz="1400" b="0">
                <a:solidFill>
                  <a:srgbClr val="2B2B2B"/>
                </a:solidFill>
                <a:latin typeface="Arial"/>
              </a:rPr>
              <a:t>labels such as scenario, lighting or glasses help pick balanced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96128"/>
            <a:ext cx="11274552" cy="7132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8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rial"/>
              </a:rPr>
              <a:t>The big picture:  </a:t>
            </a:r>
            <a:r>
              <a:rPr sz="1400" b="0" dirty="0">
                <a:solidFill>
                  <a:srgbClr val="DCE6F0"/>
                </a:solidFill>
                <a:latin typeface="Arial"/>
              </a:rPr>
              <a:t>collect → label → upload → use. Labelled data measures today's system and trains tomorrow's algorithms.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/uSBbzPexMqFE1xAXYim8EAAAAAAADAAAAAAADAAAAAwADAAIA////////BQAAAAMAEAALCnpmXZIj1U+hzj52JR4DKQQAAAABAAMAAAACAAMAAAAEAAMAAAAAAP///////wQAAQD///////8FAAAABAAQAAtQdwmzO1PjRYJ40q4Ft+G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7+5IFvM97EyoUTXEBdiKbwNEYXRhABsAAAAETGlua2VkU2hhcGVEYXRhAAUAAAAAAAJOYW1lABkAAABMaW5rZWRTaGFwZXNEYXRhUHJvcGVydHkAEFZlcnNpb24AAAAAAAlMYXN0V3JpdGUAHGTEYaEBAAAAAQD/////gwCDAAAABV9pZAAQAAAABAp6Zl2SI9VPoc4+diUeAykDRGF0YQAbAAAABExpbmtlZFNoYXBlRGF0YQAFAAAAAAACTmFtZQAZAAAATGlua2VkU2hhcGVzRGF0YVByb3BlcnR5ABBWZXJzaW9uAAEAAAAJTGFzdFdyaXRlAB9kxGGhAQAAAAIA/////8YAxgAAAAVfaWQAEAAAAARQdwmzO1PjRYJ40q4Ft+GDA0RhdGEAUwAAAAhQcmVzZW50YXRpb25TY2FubmVkRm9yTGlua2VkU2hhcGVzAAACTnVtYmVyRm9ybWF0U2VwYXJhdG9yTW9kZQAKAAAAQXV0b21hdGljAAACTmFtZQAkAAAATGlua2VkU2hhcGVQcmVzZW50YXRpb25TZXR0aW5nc0RhdGEAEFZlcnNpb24AAAAAAAlMYXN0V3JpdGUALWTEYaE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E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AAD///////8EAAEBAwAAAAQA////////JQAGTGlua2VkU2hhcGVQcmVzZW50YXRpb25TZXR0aW5nc0RhdGFfMAQ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82384231146687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5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y+gXgwTomVBt44nGRVFr9IEAAAAAAADAAAAAAADAAAABAADAAAAAAD///////8DAAAAAAD///////8DAAAAAAD///////8DAAAAAAD///////8DAAEA////////BQAAAAMAEAALkbywoxO7z0eVv34VNTV3UQQAAAABAAMAAAAEAAMAAAABAAQAAQD///////8FAAAABAAQAAt/jrEt4adxRIFbUqr7pHCN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L6BeDBOiZUG3jicZFUWv0gREYXRhAAUAAAAAAk5hbWUADQAAAExpbmtEYXRhTGlzdAAQVmVyc2lvbgABAAAACUxhc3RXcml0ZQDDPIJioQEAAAABAP////9hAGEAAAAFX2lkABAAAAAEkbywoxO7z0eVv34VNTV3UQREYXRhAAUAAAAAAk5hbWUADQAAAExpbmtEYXRhTGlzdAAQVmVyc2lvbgAAAAAACUxhc3RXcml0ZQDDPIJioQEAAAACAP////9wAHAAAAAFX2lkABAAAAAEf46xLeGncUSBW1Kq+6RwjQNEYXRhABYAAAACUGVyc29uYWxJZAABAAAAAAACTmFtZQALAAAAUGVyc29uYWxJZAAQVmVyc2lvbgAAAAAACUxhc3RXcml0ZQDWPIJ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iCwAAAAAAAAAAAAAgAf///////////////wAAAP///////////////wUAAAAD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EEAAAAAAAFAAAAAwAFAAAABAAFAAAAAAAFAAAABAAFAAAAAAD///////8FAAAAAAD///////8FAAAAAAD///////8DAAEBAwAAAAMA////////DgAGTGlua0RhdGFMaXN0XzAEAAAAAQAFAAAAAAAFAAAAAgAEAAIBAwAAAAQA////////DAAGUGVyc29uYWxJZF8wBAAAAAIABQAAAAI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08648737128"/>
  <p:tag name="EMPOWERCHARTSPROPERTIES_B_LENGTH" val="24576"/>
  <p:tag name="DOWN_MIGRATION_INITIAL_LAYOUT_REQUIRED" val="9.2.99"/>
  <p:tag name="RUNTIME_ID" val="99d6efba-f82f-42ee-b618-d7a5f9b2bd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30poCobeKdCltLxsAzLxs4EAAAAAAADAAAABAADAAAAAwADAAAAAAADAAAAAwADAAIA////////BQAAAAMAEAALdkFdjgDzwESCdmDWNlQIxAQAAAABAAMAAAACAAMAAAABAAMAAAACAP///////wQAAQD///////8FAAAABAAQAAuUFegftsHCR4+0zbl02QnE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SmgKht4p0KW0vGwDMvGzgREYXRhAAUAAAAAAk5hbWUADQAAAExpbmtEYXRhTGlzdAAQVmVyc2lvbgABAAAACUxhc3RXcml0ZQD3PIJioQEAAAABAP////9hAGEAAAAFX2lkABAAAAAEdkFdjgDzwESCdmDWNlQIxAREYXRhAAUAAAAAAk5hbWUADQAAAExpbmtEYXRhTGlzdAAQVmVyc2lvbgAAAAAACUxhc3RXcml0ZQD2PIJioQEAAAACAP////9wAHAAAAAFX2lkABAAAAAElBXoH7bBwkePtM25dNkJxANEYXRhABYAAAACUGVyc29uYWxJZAABAAAAAAACTmFtZQALAAAAUGVyc29uYWxJZAAQVmVyc2lvbgAAAAAACUxhc3RXcml0ZQANPYJ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D///////8DAAIBAwAAAAMA////////DgAGTGlua0RhdGFMaXN0XzAEAAAAAQAFAAAAAAAFAAAAAg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08649258256"/>
  <p:tag name="EMPOWERCHARTSPROPERTIES_B_LENGTH" val="24576"/>
  <p:tag name="DOWN_MIGRATION_INITIAL_LAYOUT_REQUIRED" val="9.2.99"/>
  <p:tag name="RUNTIME_ID" val="bf74961a-f647-4b68-b88b-23a045ecec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2vnwiM+mQtDn9+Ny2okApIEAAAAAAADAAAAAAADAAAABAADAAAAAAADAAAABAADAAAAAAD///////8DAAEA////////BQAAAAMAEAALTZAGzA5k+kmQV5RzK+apIgQAAAABAAMAAAAEAAMAAAABAAQAAgD///////8FAAAABAAQAAsulnyYaxjmTIRWpxqcDERRBAAAAAIAAwAAAAIAAwAAAAM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a+fCIz6ZC0Of343LaiQCkgREYXRhAAUAAAAAAk5hbWUADQAAAExpbmtEYXRhTGlzdAAQVmVyc2lvbgABAAAACUxhc3RXcml0ZQArPYJioQEAAAABAP////9hAGEAAAAFX2lkABAAAAAETZAGzA5k+kmQV5RzK+apIgREYXRhAAUAAAAAAk5hbWUADQAAAExpbmtEYXRhTGlzdAAQVmVyc2lvbgAAAAAACUxhc3RXcml0ZQAqPYJioQEAAAACAP////9wAHAAAAAFX2lkABAAAAAELpZ8mGsY5kyEVqcanAxEUQNEYXRhABYAAAACUGVyc29uYWxJZAABAAAAAAACTmFtZQALAAAAUGVyc29uYWxJZAAQVmVyc2lvbgAAAAAACUxhc3RXcml0ZQA9PYJ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08649733773"/>
  <p:tag name="EMPOWERCHARTSPROPERTIES_B_LENGTH" val="24576"/>
  <p:tag name="DOWN_MIGRATION_INITIAL_LAYOUT_REQUIRED" val="9.2.99"/>
  <p:tag name="RUNTIME_ID" val="48a8e162-12bd-41c0-a618-95622dd86fc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8/2pANYXd5Bn0kUI3Z6PZ4EAAAAAAADAAAAAAADAAAAAwADAAMA////////BQAAAAMAEAALQlmFlW7RAkO6r584O+SR0gQAAAABAAMAAAACAAMAAAAEAAMAAAAAAAMAAAAEAAMAAAAAAP///////wQAAgD///////8FAAAABAAQAAunEfCV3kbzT52WZbzTsZR8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z/akA1hd3kGfSRQjdno9ngREYXRhAAUAAAAAAk5hbWUADQAAAExpbmtEYXRhTGlzdAAQVmVyc2lvbgAAAAAACUxhc3RXcml0ZQDrRqRioQEAAAABAP////9hAGEAAAAFX2lkABAAAAAEQlmFlW7RAkO6r584O+SR0gREYXRhAAUAAAAAAk5hbWUADQAAAExpbmtEYXRhTGlzdAAQVmVyc2lvbgABAAAACUxhc3RXcml0ZQDrRqRioQEAAAACAP////9wAHAAAAAFX2lkABAAAAAEpxHwld5G80+dlmW807GUfANEYXRhABYAAAACUGVyc29uYWxJZAABAAAAAAACTmFtZQALAAAAUGVyc29uYWxJZAAQVmVyc2lvbgAAAAAACUxhc3RXcml0ZQAFR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CAP///////wUAAAADAP///////wUAAAAD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MBAwAAAAMA////////DgAGTGlua0RhdGFMaXN0XzEEAAAAAQAFAAAAAgAFAAAABAAFAAAAAAAFAAAABAAFAAAAAAAFAAAABAAEAAUBAwAAAAQA////////DAAGUGVyc29uYWxJZF8wBAAAAAIABQAAAAMABQAAAAEABQAAAAMA////////BQAAAAM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0957043865"/>
  <p:tag name="EMPOWERCHARTSPROPERTIES_B_LENGTH" val="24576"/>
  <p:tag name="DOWN_MIGRATION_INITIAL_LAYOUT_REQUIRED" val="9.2.99"/>
  <p:tag name="RUNTIME_ID" val="086c93e6-592d-42a5-836e-9012286b767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/////wUA2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A7O5Qtb5ZKgZIQxha/1W4EAAAAAAADAAAAAAADAAAAAwADAAYA////////BQAAAAMAEAALnNGotojxzk6D93x3yJ9ThgQAAAABAAMAAAACAAMAAAAEAAMAAAAAAP///////wMAAAAAAP///////wMAAAAAAP///////wMAAAAAAP///////wMAAAAAAP///////wQAAQD///////8FAAAABAAQAAszMU7E6NqnSJbbIdiobtSS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Ds7lC1vlkqBkhDGFr/VbgREYXRhAAUAAAAAAk5hbWUADQAAAExpbmtEYXRhTGlzdAAQVmVyc2lvbgAAAAAACUxhc3RXcml0ZQAhR6RioQEAAAABAP////9hAGEAAAAFX2lkABAAAAAEnNGotojxzk6D93x3yJ9ThgREYXRhAAUAAAAAAk5hbWUADQAAAExpbmtEYXRhTGlzdAAQVmVyc2lvbgABAAAACUxhc3RXcml0ZQAjR6RioQEAAAACAP////9wAHAAAAAFX2lkABAAAAAEMzFOxOjap0iW2yHYqG7UkgNEYXRhABYAAAACUGVyc29uYWxJZAABAAAAAAACTmFtZQALAAAAUGVyc29uYWxJZAAQVmVyc2lvbgAAAAAACUxhc3RXcml0ZQA3R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+CwAAAAAAAAAAAAAgAf///////////////wAAAP///////////////wUAAAACAP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YBAwAAAAMA////////DgAGTGlua0RhdGFMaXN0XzEEAAAAAQAFAAAAAgAFAAAABAAFAAAAAAAFAAAABAAFAAAAAAAFAAAABAAFAAAAAAAFAAAABAAFAAAAAAD///////8FAAAAAAD///////8EAAQBAwAAAAQA////////DAAGUGVyc29uYWxJZF8wBAAAAAIABQAAAAMABQAAAAEABQAAAAMA////////BQAAAAMA////////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0957525567"/>
  <p:tag name="EMPOWERCHARTSPROPERTIES_B_LENGTH" val="24576"/>
  <p:tag name="DOWN_MIGRATION_INITIAL_LAYOUT_REQUIRED" val="9.2.99"/>
  <p:tag name="RUNTIME_ID" val="7e345766-23be-4abb-af75-5bdec3095bb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3M8FsYZff5FkAyhMfh2aCEEAAAAAAADAAAABAADAAAAAwADAAEA////////BQAAAAMAEAALjaDN+BQ0+EOf8EeajupxrAQAAAABAAMAAAACAAMAAAABAAQAAQD///////8FAAAABAAQAAvHF8O2fv06RJamRfmg1aSK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zwWxhl9/kWQDKEx+HZoIQREYXRhAAUAAAAAAk5hbWUADQAAAExpbmtEYXRhTGlzdAAQVmVyc2lvbgAAAAAACUxhc3RXcml0ZQBXR6RioQEAAAABAP////9hAGEAAAAFX2lkABAAAAAEjaDN+BQ0+EOf8EeajupxrAREYXRhAAUAAAAAAk5hbWUADQAAAExpbmtEYXRhTGlzdAAQVmVyc2lvbgABAAAACUxhc3RXcml0ZQBXR6RioQEAAAACAP////9wAHAAAAAFX2lkABAAAAAExxfDtn79OkSWpkX5oNWkigNEYXRhABYAAAACUGVyc29uYWxJZAABAAAAAAACTmFtZQALAAAAUGVyc29uYWxJZAAQVmVyc2lvbgAAAAAACUxhc3RXcml0ZQBpR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0958007760"/>
  <p:tag name="EMPOWERCHARTSPROPERTIES_B_LENGTH" val="24576"/>
  <p:tag name="DOWN_MIGRATION_INITIAL_LAYOUT_REQUIRED" val="9.2.99"/>
  <p:tag name="RUNTIME_ID" val="fffbf37a-e102-4052-b81b-d6db8ef12ac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7E0n4vEpl1Oqwci+FEyoYAEAAAAAAADAAAAAAADAAAABAADAAAAAAADAAAAAwADAAIA////////BQAAAAMAEAALhwenyzKodUuTBJ0Mj2gYyQQAAAABAAMAAAAEAAMAAAABAAMAAAACAP///////wQAAQD///////8FAAAABAAQAAtUuzuZOSEtR56LElPwpl8C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TSfi8SmXU6rByL4UTKhgAREYXRhAAUAAAAAAk5hbWUADQAAAExpbmtEYXRhTGlzdAAQVmVyc2lvbgABAAAACUxhc3RXcml0ZQCDR6RioQEAAAABAP////9hAGEAAAAFX2lkABAAAAAEhwenyzKodUuTBJ0Mj2gYyQREYXRhAAUAAAAAAk5hbWUADQAAAExpbmtEYXRhTGlzdAAQVmVyc2lvbgAAAAAACUxhc3RXcml0ZQCDR6RioQEAAAACAP////9wAHAAAAAFX2lkABAAAAAEVLs7mTkhLUeeixJT8KZfAgNEYXRhABYAAAACUGVyc29uYWxJZAABAAAAAAACTmFtZQALAAAAUGVyc29uYWxJZAAQVmVyc2lvbgAAAAAACUxhc3RXcml0ZQCVR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AFAAAABAADAAIBAwAAAAMA////////DgAGTGlua0RhdGFMaXN0XzAEAAAAAQAFAAAAAAAFAAAAAgAFAAAAAAAFAAAAAgAEAAIBAwAAAAQA////////DAAGUGVyc29uYWxJZF8wBAAAAAIABQAAAAI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0958458101"/>
  <p:tag name="EMPOWERCHARTSPROPERTIES_B_LENGTH" val="24576"/>
  <p:tag name="DOWN_MIGRATION_INITIAL_LAYOUT_REQUIRED" val="9.2.99"/>
  <p:tag name="RUNTIME_ID" val="031ffdc9-7afb-46c9-a9a0-c53ac8a06ef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5N7nXzcpRlLvLeNldWTFyYEAAAAAAADAAAAAAADAAAAAwADAAAAAAADAAAAAwADAAAAAAADAAAAAwADAAUA////////BQAAAAMAEAALUkQLnTUs2kiZ/a4ZEqJIegQAAAABAAMAAAACAAMAAAAEAAMAAAACAP///////wMAAAACAP///////wMAAAAAAP///////wMAAAAAAP///////wQAAQD///////8FAAAABAAQAAufWD/xvT6WTJuehwcayZiK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3udfNylGUu8t42V1ZMXJgREYXRhAAUAAAAAAk5hbWUADQAAAExpbmtEYXRhTGlzdAAQVmVyc2lvbgABAAAACUxhc3RXcml0ZQCxR6RioQEAAAABAP////9hAGEAAAAFX2lkABAAAAAEUkQLnTUs2kiZ/a4ZEqJIegREYXRhAAUAAAAAAk5hbWUADQAAAExpbmtEYXRhTGlzdAAQVmVyc2lvbgAAAAAACUxhc3RXcml0ZQCuR6RioQEAAAACAP////9wAHAAAAAFX2lkABAAAAAEn1g/8b0+lkybnocHGsmYigNEYXRhABYAAAACUGVyc29uYWxJZAABAAAAAAACTmFtZQALAAAAUGVyc29uYWxJZAAQVmVyc2lvbgAAAAAACUxhc3RXcml0ZQDPR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wD///////8FAAAAAwD///////8DAAUBAwAAAAMA////////DgAGTGlua0RhdGFMaXN0XzAEAAAAAQAFAAAAAAAFAAAAAgAFAAAAAAAFAAAAAgAFAAAAAAAFAAAAAgA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0959022496"/>
  <p:tag name="EMPOWERCHARTSPROPERTIES_B_LENGTH" val="24576"/>
  <p:tag name="DOWN_MIGRATION_INITIAL_LAYOUT_REQUIRED" val="9.2.99"/>
  <p:tag name="RUNTIME_ID" val="a5e40360-252d-466c-bd8b-b2ea8fa956a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6F+4r3+e95MrF0+tiKMPtkEAAAAAAADAAAABAADAAAAAwADAAEA////////BQAAAAMAEAALZ/vK//A+H0aD5kCgx6lbWgQAAAABAAMAAAACAAMAAAABAAQAAQD///////8FAAAABAAQAAu44+BdgTHAQoMH7y8rUQaA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oX7ivf573kysXT62Iow+2QREYXRhAAUAAAAAAk5hbWUADQAAAExpbmtEYXRhTGlzdAAQVmVyc2lvbgABAAAACUxhc3RXcml0ZQAlf6pioQEAAAABAP////9hAGEAAAAFX2lkABAAAAAEZ/vK//A+H0aD5kCgx6lbWgREYXRhAAUAAAAAAk5hbWUADQAAAExpbmtEYXRhTGlzdAAQVmVyc2lvbgAAAAAACUxhc3RXcml0ZQAlf6pioQEAAAACAP////9wAHAAAAAFX2lkABAAAAAEuOPgXYExwEKDB+8vK1EGgANEYXRhABYAAAACUGVyc29uYWxJZAABAAAAAAACTmFtZQALAAAAUGVyc29uYWxJZAAQVmVyc2lvbgAAAAAACUxhc3RXcml0ZQBBf6p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5033168439"/>
  <p:tag name="EMPOWERCHARTSPROPERTIES_B_LENGTH" val="24576"/>
  <p:tag name="DOWN_MIGRATION_INITIAL_LAYOUT_REQUIRED" val="9.2.99"/>
  <p:tag name="RUNTIME_ID" val="e31f6004-bcce-4d65-862d-d94815756e8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t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759gBo+fv1HvFcE9N/DybYEAAAAAAADAAAAAAADAAAABAADAAAAAAADAAAAAwADAAAAAAADAAAAAwADAAAAAAADAAAAAwADAAAAAAADAAAAAwADAAUA////////BQAAAAMAEAALKf5L5B71LUicQObPqGNn6AQAAAABAAMAAAAEAAMAAAABAAMAAAACAP///////wMAAAACAP///////wMAAAACAP///////wMAAAACAP///////wQAAQD///////8FAAAABAAQAAvG6dqpvBG8SY8ZdPzZvUM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vn2AGj5+/Ue8VwT038PJtgREYXRhAAUAAAAAAk5hbWUADQAAAExpbmtEYXRhTGlzdAAQVmVyc2lvbgAAAAAACUxhc3RXcml0ZQBpf6pioQEAAAABAP////9hAGEAAAAFX2lkABAAAAAEKf5L5B71LUicQObPqGNn6AREYXRhAAUAAAAAAk5hbWUADQAAAExpbmtEYXRhTGlzdAAQVmVyc2lvbgABAAAACUxhc3RXcml0ZQBrf6pioQEAAAACAP////9wAHAAAAAFX2lkABAAAAAExunaqbwRvEmPGXT82b1DPQNEYXRhABYAAAACUGVyc29uYWxJZAABAAAAAAACTmFtZQALAAAAUGVyc29uYWxJZAAQVmVyc2lvbgAAAAAACUxhc3RXcml0ZQCAf6p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+CwAAAAAAAAAAAAAgAf///////////////wAAAP////////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AEAAAAAAAFAAAAAAAFAAAAAwAFAAAAAAAFAAAAAwAFAAAAAAAFAAAAAwAFAAAAAAAFAAAAAwAFAAAAAAAFAAAAAwADAAUBAwAAAAMA////////DgAGTGlua0RhdGFMaXN0XzEEAAAAAQAFAAAAAgAFAAAABAAFAAAAAgD///////8FAAAAAgD///////8FAAAAAgD///////8FAAAAAg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5033785542"/>
  <p:tag name="EMPOWERCHARTSPROPERTIES_B_LENGTH" val="24576"/>
  <p:tag name="DOWN_MIGRATION_INITIAL_LAYOUT_REQUIRED" val="9.2.99"/>
  <p:tag name="RUNTIME_ID" val="68b85010-1129-4e7c-87ef-aea4e33ca68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aH7oQyNdxOpU0qqjs/o64EAAAAAAADAAAAAAADAAAABAADAAEA////////BQAAAAMAEAALPPZb8pqO/kmcMhHi17ggJQQAAAABAAMAAAAEAAMAAAABAAQAAQD///////8FAAAABAAQAAtBsteksQDHQKMTdciXc90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ZofuhDI13E6lTSqqOz+jrgREYXRhAAUAAAAAAk5hbWUADQAAAExpbmtEYXRhTGlzdAAQVmVyc2lvbgAAAAAACUxhc3RXcml0ZQCnf6pioQEAAAABAP////9hAGEAAAAFX2lkABAAAAAEPPZb8pqO/kmcMhHi17ggJQREYXRhAAUAAAAAAk5hbWUADQAAAExpbmtEYXRhTGlzdAAQVmVyc2lvbgABAAAACUxhc3RXcml0ZQCpf6pioQEAAAACAP////9wAHAAAAAFX2lkABAAAAAEQbLXpLEAx0CjE3XIl3PdDwNEYXRhABYAAAACUGVyc29uYWxJZAABAAAAAAACTmFtZQALAAAAUGVyc29uYWxJZAAQVmVyc2lvbgAAAAAACUxhc3RXcml0ZQC7f6p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5034359624"/>
  <p:tag name="EMPOWERCHARTSPROPERTIES_B_LENGTH" val="24576"/>
  <p:tag name="DOWN_MIGRATION_INITIAL_LAYOUT_REQUIRED" val="9.2.99"/>
  <p:tag name="RUNTIME_ID" val="12bb770c-aa3d-46f3-9d1d-6332f786d18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OTCpPOBZ9PjkDEG1nKGo8EAAAAAAADAAAABAADAAAAAwADAAIA////////BQAAAAMAEAAL/ocJvZOI8kitmKMiUIicWgQAAAABAAMAAAACAAMAAAABAAMAAAAEAP///////wQAAgD///////8FAAAABAAQAAuNRRlGz0GITLCLRD5p6gMu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5MKk84Fn0+OQMQbWcoajwREYXRhAAUAAAAAAk5hbWUADQAAAExpbmtEYXRhTGlzdAAQVmVyc2lvbgABAAAACUxhc3RXcml0ZQCSZ6RioQEAAAABAP////9hAGEAAAAFX2lkABAAAAAE/ocJvZOI8kitmKMiUIicWgREYXRhAAUAAAAAAk5hbWUADQAAAExpbmtEYXRhTGlzdAAQVmVyc2lvbgAAAAAACUxhc3RXcml0ZQCRZ6RioQEAAAACAP////9wAHAAAAAFX2lkABAAAAAEjUUZRs9BiEywi0Q+aeoDLgNEYXRhABYAAAACUGVyc29uYWxJZAABAAAAAAACTmFtZQALAAAAUGVyc29uYWxJZAAQVmVyc2lvbgAAAAAACUxhc3RXcml0ZQCuZ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0641777"/>
  <p:tag name="EMPOWERCHARTSPROPERTIES_B_LENGTH" val="24576"/>
  <p:tag name="DOWN_MIGRATION_INITIAL_LAYOUT_REQUIRED" val="9.2.99"/>
  <p:tag name="RUNTIME_ID" val="1c7c86f7-32d5-4517-b2d3-279af9c7a67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/////wUACg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Jm8A19qntDsUMnVkBmjb0EAAAAAAADAAAAAAADAAAABAADAAAAAAD///////8DAAEA////////BQAAAAMAEAALbF6OpXk1u0Sn7jYQB9BoLwQAAAABAAMAAAAEAAMAAAABAAQAAQD///////8FAAAABAAQAAukPSyFUkumTZVZFNKdD5tE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8mbwDX2qe0OxQydWQGaNvQREYXRhAAUAAAAAAk5hbWUADQAAAExpbmtEYXRhTGlzdAAQVmVyc2lvbgABAAAACUxhc3RXcml0ZQDRZ6RioQEAAAABAP////9hAGEAAAAFX2lkABAAAAAEbF6OpXk1u0Sn7jYQB9BoLwREYXRhAAUAAAAAAk5hbWUADQAAAExpbmtEYXRhTGlzdAAQVmVyc2lvbgAAAAAACUxhc3RXcml0ZQDOZ6RioQEAAAACAP////9wAHAAAAAFX2lkABAAAAAEpD0shVJLpk2VWRTSnQ+bRANEYXRhABYAAAACUGVyc29uYWxJZAABAAAAAAACTmFtZQALAAAAUGVyc29uYWxJZAAQVmVyc2lvbgAAAAAACUxhc3RXcml0ZQDjZ6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AAFAAAABAADAAEBAwAAAAMA////////DgAGTGlua0RhdGFMaXN0XzAEAAAAAQAFAAAAAAAFAAAAAgAEAAQBAwAAAAQA////////DAAGUGVyc29uYWxJZF8wBAAAAAIABQAAAAIABQAAAAEABQAAAAI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1175460"/>
  <p:tag name="EMPOWERCHARTSPROPERTIES_B_LENGTH" val="24576"/>
  <p:tag name="DOWN_MIGRATION_INITIAL_LAYOUT_REQUIRED" val="9.2.99"/>
  <p:tag name="RUNTIME_ID" val="4efcd369-9ca2-485e-8802-ed0d8b8947e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zgs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UAAAACABAAC+UTpQK897BNvsETzLP2L9UEAAAAAAADAAAAAAADAAAAAwADAAAAAAADAAAAAwADAAAAAAADAAAAAwADAAAAAAADAAAAAwADAAQA////////BQAAAAMAEAALetRBe9D07k6J4GWYolaQYgQAAAABAAMAAAACAAMAAAAEAAMAAAACAP///////wMAAAACAP///////wMAAAACAP///////wQAAQD///////8FAAAABAAQAAu5D9Cy9+kVR7sQV+2MAcG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5ROlArz3sE2+wRPMs/Yv1QREYXRhAAUAAAAAAk5hbWUADQAAAExpbmtEYXRhTGlzdAAQVmVyc2lvbgABAAAACUxhc3RXcml0ZQAHaKRioQEAAAABAP////9hAGEAAAAFX2lkABAAAAAEetRBe9D07k6J4GWYolaQYgREYXRhAAUAAAAAAk5hbWUADQAAAExpbmtEYXRhTGlzdAAQVmVyc2lvbgAAAAAACUxhc3RXcml0ZQAGaKRioQEAAAACAP////9wAHAAAAAFX2lkABAAAAAEuQ/QsvfpFUe7EFftjAHBiANEYXRhABYAAAACUGVyc29uYWxJZAABAAAAAAACTmFtZQALAAAAUGVyc29uYWxJZAAQVmVyc2lvbgAAAAAACUxhc3RXcml0ZQAaaK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QBAwAAAAIA////////DgAGTGlua0RhdGFMaXN0XzEEAAAAAAAFAAAAAwAFAAAABAAFAAAAAwD///////8FAAAAAwD///////8FAAAAAwD///////8DAAQBAwAAAAMA////////DgAGTGlua0RhdGFMaXN0XzAEAAAAAQAFAAAAAAAFAAAAAgAFAAAAAAAFAAAAAgAFAAAAAAAFAAAAAg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1716974"/>
  <p:tag name="EMPOWERCHARTSPROPERTIES_B_LENGTH" val="24576"/>
  <p:tag name="DOWN_MIGRATION_INITIAL_LAYOUT_REQUIRED" val="9.2.99"/>
  <p:tag name="RUNTIME_ID" val="fc20a51c-4eae-4ffb-8714-90bdac00d81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964AXo0B8BHrLOMID4mJxYEAAAAAAADAAAAAAADAAAAAwADAAAAAAADAAAAAwADAAMA////////BQAAAAMAEAALZzAMmS9ASk2oL0x1cxMD0QQAAAABAAMAAAACAAMAAAAEAAMAAAACAAMAAAAEAAMAAAAAAP///////wQAAgD///////8FAAAABAAQAAu7ty31cZo/Q7kn0/zSWuXW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3rgBejQHwEess4wgPiYnFgREYXRhAAUAAAAAAk5hbWUADQAAAExpbmtEYXRhTGlzdAAQVmVyc2lvbgAAAAAACUxhc3RXcml0ZQA2aKRioQEAAAABAP////9hAGEAAAAFX2lkABAAAAAEZzAMmS9ASk2oL0x1cxMD0QREYXRhAAUAAAAAAk5hbWUADQAAAExpbmtEYXRhTGlzdAAQVmVyc2lvbgABAAAACUxhc3RXcml0ZQA7aKRioQEAAAACAP////9wAHAAAAAFX2lkABAAAAAEu7ct9XGaP0O5J9P80lrl1gNEYXRhABYAAAACUGVyc29uYWxJZAABAAAAAAACTmFtZQALAAAAUGVyc29uYWxJZAAQVmVyc2lvbgAAAAAACUxhc3RXcml0ZQBNaK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CAP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AwADAAMBAwAAAAMA////////DgAGTGlua0RhdGFMaXN0XzEEAAAAAQAFAAAAAgAFAAAABAAFAAAAAgAFAAAABAAFAAAAAAD///////8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2200892"/>
  <p:tag name="EMPOWERCHARTSPROPERTIES_B_LENGTH" val="24576"/>
  <p:tag name="DOWN_MIGRATION_INITIAL_LAYOUT_REQUIRED" val="9.2.99"/>
  <p:tag name="RUNTIME_ID" val="f7cd696c-fd33-437b-9cc4-dd37a5a8f29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/////wUAtgsAAAAAAAAAAAAAIAD///////////////8AAAD////////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HAP///////wUAAAACABAAC57DzUyorpZPsLk1NXVO01QEAAAAAAADAAAAAAADAAAABAADAAAAAAADAAAABAADAAAAAAADAAAABAADAAAAAAD///////8DAAAAAAD///////8DAAAAAAD///////8DAAAAAAD///////8DAAEA////////BQAAAAMAEAALadI4y7ADfEWERywoxp/LXAQAAAABAAMAAAAEAAMAAAABAAQAAwD///////8FAAAABAAQAAvxtv6YYtCzTLKbso7HIyE6BAAAAAIAAwAAAAIAAwAAAAMAAwAAAAIA////////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nsPNTKiulk+wuTU1dU7TVAREYXRhAAUAAAAAAk5hbWUADQAAAExpbmtEYXRhTGlzdAAQVmVyc2lvbgABAAAACUxhc3RXcml0ZQBsaKRioQEAAAABAP////9hAGEAAAAFX2lkABAAAAAEadI4y7ADfEWERywoxp/LXAREYXRhAAUAAAAAAk5hbWUADQAAAExpbmtEYXRhTGlzdAAQVmVyc2lvbgAAAAAACUxhc3RXcml0ZQBqaKRioQEAAAACAP////9wAHAAAAAFX2lkABAAAAAE8bb+mGLQs0yym7KOxyMhOgNEYXRhABYAAAACUGVyc29uYWxJZAABAAAAAAACTmFtZQALAAAAUGVyc29uYWxJZAAQVmVyc2lvbgAAAAAACUxhc3RXcml0ZQB8aK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D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cBAwAAAAIA////////DgAGTGlua0RhdGFMaXN0XzEEAAAAAAAFAAAAAwAFAAAABAAFAAAAAAD///////8FAAAAAAD///////8FAAAAAAD///////8FAAAAAAD///////8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2723319"/>
  <p:tag name="EMPOWERCHARTSPROPERTIES_B_LENGTH" val="24576"/>
  <p:tag name="DOWN_MIGRATION_INITIAL_LAYOUT_REQUIRED" val="9.2.99"/>
  <p:tag name="RUNTIME_ID" val="ebfff073-b2aa-4008-babd-f9e6cc2ba9a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/////wUACg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CrUgqiu9tMl8hONMP/Wt8EAAAAAAADAAAAAAADAAAABAADAAAAAAD///////8DAAEA////////BQAAAAMAEAALPb8g9iiz70W021qjWIR0NwQAAAABAAMAAAAEAAMAAAABAAQAAQD///////8FAAAABAAQAAs8Y+GGljs4Rb5jvpX1hOJw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8KtSCqK720yXyE40w/9a3wREYXRhAAUAAAAAAk5hbWUADQAAAExpbmtEYXRhTGlzdAAQVmVyc2lvbgAAAAAACUxhc3RXcml0ZQCnaKRioQEAAAABAP////9hAGEAAAAFX2lkABAAAAAEPb8g9iiz70W021qjWIR0NwREYXRhAAUAAAAAAk5hbWUADQAAAExpbmtEYXRhTGlzdAAQVmVyc2lvbgABAAAACUxhc3RXcml0ZQCsaKRioQEAAAACAP////9wAHAAAAAFX2lkABAAAAAEPGPhhpY7OEW+Y76V9YTicANEYXRhABYAAAACUGVyc29uYWxJZAABAAAAAAACTmFtZQALAAAAUGVyc29uYWxJZAAQVmVyc2lvbgAAAAAACUxhc3RXcml0ZQC9aK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MBAwAAAAQA////////DAAGUGVyc29uYWxJZF8wBAAAAAIABQAAAAMABQAAAAEABQAAAAI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43354603"/>
  <p:tag name="EMPOWERCHARTSPROPERTIES_B_LENGTH" val="24576"/>
  <p:tag name="DOWN_MIGRATION_INITIAL_LAYOUT_REQUIRED" val="9.2.99"/>
  <p:tag name="RUNTIME_ID" val="549c9a74-01f8-4fdf-9037-6a8d0056496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Ag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9kA4ghLz9It9JEO3BaFBkEAAAAAAADAAAAAAADAAAABAADAAEA////////BQAAAAMAEAAL6Tav25FVWUGlvEi2Cm2vswQAAAABAAMAAAAEAAMAAAABAAQAAwD///////8FAAAABAAQAAsZU0HHgTKuTLUlWeDZNH3mBAAAAAIAAwAAAAIAAwAAAAM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2QDiCEvP0i30kQ7cFoUGQREYXRhAAUAAAAAAk5hbWUADQAAAExpbmtEYXRhTGlzdAAQVmVyc2lvbgAAAAAACUxhc3RXcml0ZQDqfaRioQEAAAABAP////9hAGEAAAAFX2lkABAAAAAE6Tav25FVWUGlvEi2Cm2vswREYXRhAAUAAAAAAk5hbWUADQAAAExpbmtEYXRhTGlzdAAQVmVyc2lvbgABAAAACUxhc3RXcml0ZQDsfaRioQEAAAACAP////9wAHAAAAAFX2lkABAAAAAEGVNBx4Eyrky1JVng2TR95gNEYXRhABYAAAACUGVyc29uYWxJZAABAAAAAAACTmFtZQALAAAAUGVyc29uYWxJZAAQVmVyc2lvbgAAAAAACUxhc3RXcml0ZQD9fa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97750972"/>
  <p:tag name="EMPOWERCHARTSPROPERTIES_B_LENGTH" val="24576"/>
  <p:tag name="DOWN_MIGRATION_INITIAL_LAYOUT_REQUIRED" val="9.2.99"/>
  <p:tag name="RUNTIME_ID" val="e57cac9f-1980-4e2c-8fc3-b5be7485e85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6HHoI7dzlxNql4Q29LqqLIEAAAAAAADAAAABAADAAAAAwADAAEA////////BQAAAAMAEAAL6fhu2kwvuEmEYGkyYK6H8gQAAAABAAMAAAACAAMAAAABAAQAAgD///////8FAAAABAAQAAvXq39vbD82RrgSyjNSVVcvBAAAAAIAAwAAAAAAAwAAAAI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ocegjt3OXE2qXhDb0uqosgREYXRhAAUAAAAAAk5hbWUADQAAAExpbmtEYXRhTGlzdAAQVmVyc2lvbgABAAAACUxhc3RXcml0ZQAdfqRioQEAAAABAP////9hAGEAAAAFX2lkABAAAAAE6fhu2kwvuEmEYGkyYK6H8gREYXRhAAUAAAAAAk5hbWUADQAAAExpbmtEYXRhTGlzdAAQVmVyc2lvbgAAAAAACUxhc3RXcml0ZQAbfqRioQEAAAACAP////9wAHAAAAAFX2lkABAAAAAE16t/b2w/Nka4EsozUlVXLwNEYXRhABYAAAACUGVyc29uYWxJZAABAAAAAAACTmFtZQALAAAAUGVyc29uYWxJZAAQVmVyc2lvbgAAAAAACUxhc3RXcml0ZQAvf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IBAwAAAAQA////////DAAGUGVyc29uYWxJZF8wBAAAAAIABQAAAAI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98243257"/>
  <p:tag name="EMPOWERCHARTSPROPERTIES_B_LENGTH" val="24576"/>
  <p:tag name="DOWN_MIGRATION_INITIAL_LAYOUT_REQUIRED" val="9.2.99"/>
  <p:tag name="RUNTIME_ID" val="0d091395-e480-4cfb-8075-dd708cde31a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wgs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UAAAACABAAC/XwBgd126dAumyjupn9P84EAAAAAAADAAAAAAADAAAABAADAAAAAAADAAAABAADAAAAAAADAAAABAADAAAAAAADAAAABAADAAIA////////BQAAAAMAEAALcxDM638prEyg00DXMK63RgQAAAABAAMAAAAEAAMAAAABAAMAAAAEAP///////wQABAD///////8FAAAABAAQAAtS1LSpnxOTQZbu328lpxzyBAAAAAIAAwAAAAIAAwAAAAMAAwAAAAIAAwAAAAMAAwAAAAIA////////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9fAGB3Xbp0C6bKO6mf0/zgREYXRhAAUAAAAAAk5hbWUADQAAAExpbmtEYXRhTGlzdAAQVmVyc2lvbgAAAAAACUxhc3RXcml0ZQBLfqRioQEAAAABAP////9hAGEAAAAFX2lkABAAAAAEcxDM638prEyg00DXMK63RgREYXRhAAUAAAAAAk5hbWUADQAAAExpbmtEYXRhTGlzdAAQVmVyc2lvbgABAAAACUxhc3RXcml0ZQBNfqRioQEAAAACAP////9wAHAAAAAFX2lkABAAAAAEUtS0qZ8Tk0GW7t9vJacc8gNEYXRhABYAAAACUGVyc29uYWxJZAABAAAAAAACTmFtZQALAAAAUGVyc29uYWxJZAAQVmVyc2lvbgAAAAAACUxhc3RXcml0ZQBwf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QBAwAAAAIA////////DgAGTGlua0RhdGFMaXN0XzAEAAAAAAAFAAAAAAAFAAAAAwAFAAAAAAAFAAAAAwAFAAAAAAD///////8FAAAAAAD///////8DAAIBAwAAAAMA////////DgAGTGlua0RhdGFMaXN0XzEEAAAAAQAFAAAAAgAFAAAABAAFAAAAAg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98888709"/>
  <p:tag name="EMPOWERCHARTSPROPERTIES_B_LENGTH" val="24576"/>
  <p:tag name="DOWN_MIGRATION_INITIAL_LAYOUT_REQUIRED" val="9.2.99"/>
  <p:tag name="RUNTIME_ID" val="fbc9ecce-3318-4f98-9598-0cb18de14e1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U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y/NZC21eBZBuPb2ivtw36wEAAAAAAADAAAAAAADAAAABAADAAEA////////BQAAAAMAEAALZkeKjRN1mkWx16Y3ZTQ0LgQAAAABAAMAAAAEAAMAAAABAAQAAQD///////8FAAAABAAQAAtoIqAyP40/RrY6AFf9MpyD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L81kLbV4FkG49vaK+3DfrAREYXRhAAUAAAAAAk5hbWUADQAAAExpbmtEYXRhTGlzdAAQVmVyc2lvbgABAAAACUxhc3RXcml0ZQCQfqRioQEAAAABAP////9hAGEAAAAFX2lkABAAAAAEZkeKjRN1mkWx16Y3ZTQ0LgREYXRhAAUAAAAAAk5hbWUADQAAAExpbmtEYXRhTGlzdAAQVmVyc2lvbgAAAAAACUxhc3RXcml0ZQCNfqRioQEAAAACAP////9wAHAAAAAFX2lkABAAAAAEaCKgMj+NP0a2OgBX/TKcgwNEYXRhABYAAAACUGVyc29uYWxJZAABAAAAAAACTmFtZQALAAAAUGVyc29uYWxJZAAQVmVyc2lvbgAAAAAACUxhc3RXcml0ZQCgf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E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UBAwAAAAQA////////DAAGUGVyc29uYWxJZF8wBAAAAAIABQAAAAIABQAAAAEABQAAAAAA////////BQAAAAA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099369277"/>
  <p:tag name="EMPOWERCHARTSPROPERTIES_B_LENGTH" val="24576"/>
  <p:tag name="DOWN_MIGRATION_INITIAL_LAYOUT_REQUIRED" val="9.2.99"/>
  <p:tag name="RUNTIME_ID" val="89316858-28a6-4daa-819c-962b701e657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/////wUA5gsAAAAAAAAAAAAAIAD///////////////8AAAD///////////////8DAAAAAg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/qsglnSQyVBpbSY5USvklYEAAAAAAADAAAAAAADAAAABAADAAIA////////BQAAAAMAEAALX4395B7RWU6WNQwbCDtuvQQAAAABAAMAAAAEAAMAAAABAAMAAAAEAP///////wQABAD///////8FAAAABAAQAAtp5512tUkiQIFgX5trMuwQBAAAAAIAAwAAAAIAAwAAAAMAAwAAAAAAAwAAAAM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+qyCWdJDJUGltJjlRK+SVgREYXRhAAUAAAAAAk5hbWUADQAAAExpbmtEYXRhTGlzdAAQVmVyc2lvbgABAAAACUxhc3RXcml0ZQDTnaRioQEAAAABAP////9hAGEAAAAFX2lkABAAAAAEX4395B7RWU6WNQwbCDtuvQREYXRhAAUAAAAAAk5hbWUADQAAAExpbmtEYXRhTGlzdAAQVmVyc2lvbgAAAAAACUxhc3RXcml0ZQDTnaRioQEAAAACAP////9wAHAAAAAFX2lkABAAAAAEaeeddrVJIkCBYF+bazLsEANEYXRhABYAAAACUGVyc29uYWxJZAABAAAAAAACTmFtZQALAAAAUGVyc29uYWxJZAAQVmVyc2lvbgAAAAAACUxhc3RXcml0ZQDvna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179538235"/>
  <p:tag name="EMPOWERCHARTSPROPERTIES_B_LENGTH" val="24576"/>
  <p:tag name="DOWN_MIGRATION_INITIAL_LAYOUT_REQUIRED" val="9.2.99"/>
  <p:tag name="RUNTIME_ID" val="339ad190-ecc1-4fc0-851f-b7f40d7f2d6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/////wUACgw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jkYwrp47tHukvEsZpqxDQEAAAAAAADAAAAAAADAAAAAwADAAEA////////BQAAAAMAEAAL5hapKcl/dUunAECKT0ccFwQAAAABAAMAAAACAAMAAAAEAAQAAgD///////8FAAAABAAQAAvV/uVRopZSTrtkPCP2+Il4BAAAAAIAAwAAAAMAAwAAAAE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WORjCunju0e6S8SxmmrENAREYXRhAAUAAAAAAk5hbWUADQAAAExpbmtEYXRhTGlzdAAQVmVyc2lvbgABAAAACUxhc3RXcml0ZQAVnqRioQEAAAABAP////9hAGEAAAAFX2lkABAAAAAE5hapKcl/dUunAECKT0ccFwREYXRhAAUAAAAAAk5hbWUADQAAAExpbmtEYXRhTGlzdAAQVmVyc2lvbgAAAAAACUxhc3RXcml0ZQASnqRioQEAAAACAP////9wAHAAAAAFX2lkABAAAAAE1f7lUaKWUk67ZDwj9viJeANEYXRhABYAAAACUGVyc29uYWxJZAABAAAAAAACTmFtZQALAAAAUGVyc29uYWxJZAAQVmVyc2lvbgAAAAAACUxhc3RXcml0ZQAnn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180090277"/>
  <p:tag name="EMPOWERCHARTSPROPERTIES_B_LENGTH" val="24576"/>
  <p:tag name="DOWN_MIGRATION_INITIAL_LAYOUT_REQUIRED" val="9.2.99"/>
  <p:tag name="RUNTIME_ID" val="d01dfdef-6550-4247-9501-6d43afe89d4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5rRKHqW9FMiiZUvu8DEm0EAAAAAAADAAAABAADAAAAAwADAAIA////////BQAAAAMAEAAL2w/J3ePeqUaWnbFI9AzkNwQAAAABAAMAAAACAAMAAAABAAMAAAAAAP///////wQAAQD///////8FAAAABAAQAAtuJetLXp9oSZlNDu4cI1M4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mtEoepb0UyKJlS+7wMSbQREYXRhAAUAAAAAAk5hbWUADQAAAExpbmtEYXRhTGlzdAAQVmVyc2lvbgABAAAACUxhc3RXcml0ZQBPnqRioQEAAAABAP////9hAGEAAAAFX2lkABAAAAAE2w/J3ePeqUaWnbFI9AzkNwREYXRhAAUAAAAAAk5hbWUADQAAAExpbmtEYXRhTGlzdAAQVmVyc2lvbgAAAAAACUxhc3RXcml0ZQBNnqRioQEAAAACAP////9wAHAAAAAFX2lkABAAAAAEbiXrS16faEmZTQ7uHCNTOANEYXRhABYAAAACUGVyc29uYWxJZAABAAAAAAACTmFtZQALAAAAUGVyc29uYWxJZAAQVmVyc2lvbgAAAAAACUxhc3RXcml0ZQBgn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180647643"/>
  <p:tag name="EMPOWERCHARTSPROPERTIES_B_LENGTH" val="24576"/>
  <p:tag name="DOWN_MIGRATION_INITIAL_LAYOUT_REQUIRED" val="9.2.99"/>
  <p:tag name="RUNTIME_ID" val="950052f1-8110-42fa-bde3-2bcdeb29c54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BA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0QUZM+gKOhIrABxyn2yeTsEAAAAAAADAAAABAADAAAAAwADAAAAAAD///////8DAAAAAAD///////8DAAEA////////BQAAAAMAEAALhmEK6OoWWkaZD83FtK9aYQQAAAABAAMAAAACAAMAAAABAAQAAQD///////8FAAAABAAQAAs0R14t4q/3QJb0JIoXDM60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RBRkz6Ao6EisAHHKfbJ5OwREYXRhAAUAAAAAAk5hbWUADQAAAExpbmtEYXRhTGlzdAAQVmVyc2lvbgABAAAACUxhc3RXcml0ZQCAnqRioQEAAAABAP////9hAGEAAAAFX2lkABAAAAAEhmEK6OoWWkaZD83FtK9aYQREYXRhAAUAAAAAAk5hbWUADQAAAExpbmtEYXRhTGlzdAAQVmVyc2lvbgAAAAAACUxhc3RXcml0ZQB8nqRioQEAAAACAP////9wAHAAAAAFX2lkABAAAAAENEdeLeKv90CW9CSKFwzOtANEYXRhABYAAAACUGVyc29uYWxJZAABAAAAAAACTmFtZQALAAAAUGVyc29uYWxJZAAQVmVyc2lvbgAAAAAACUxhc3RXcml0ZQCQn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181149595"/>
  <p:tag name="EMPOWERCHARTSPROPERTIES_B_LENGTH" val="24576"/>
  <p:tag name="DOWN_MIGRATION_INITIAL_LAYOUT_REQUIRED" val="9.2.99"/>
  <p:tag name="RUNTIME_ID" val="0b14b75c-98f2-4618-bc9b-a4810b629c8f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zvG0iLbDTZEpEUqPhc76l0EAAAAAAADAAAAAAADAAAABAADAAAAAAADAAAAAwADAAMA////////BQAAAAMAEAALK8ffpBXA+ku8Aq+BXZSrTQQAAAABAAMAAAAEAAMAAAABAAMAAAACAP///////wMAAAAAAP///////wQAAQD///////8FAAAABAAQAAvDqVVrH4CUQK93YlhU8/Zi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O8bSItsNNkSkRSo+FzvqXQREYXRhAAUAAAAAAk5hbWUADQAAAExpbmtEYXRhTGlzdAAQVmVyc2lvbgAAAAAACUxhc3RXcml0ZQCtnqRioQEAAAABAP////9hAGEAAAAFX2lkABAAAAAEK8ffpBXA+ku8Aq+BXZSrTQREYXRhAAUAAAAAAk5hbWUADQAAAExpbmtEYXRhTGlzdAAQVmVyc2lvbgABAAAACUxhc3RXcml0ZQCvnqRioQEAAAACAP////9wAHAAAAAFX2lkABAAAAAEw6lVax+AlECvd2JYVPP2YgNEYXRhABYAAAACUGVyc29uYWxJZAABAAAAAAACTmFtZQALAAAAUGVyc29uYWxJZAAQVmVyc2lvbgAAAAAACUxhc3RXcml0ZQDAnqR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AwADAAMBAwAAAAMA////////DgAGTGlua0RhdGFMaXN0XzEEAAAAAQAFAAAAAgAFAAAABAAFAAAAAgD///////8FAAAAAA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181606783"/>
  <p:tag name="EMPOWERCHARTSPROPERTIES_B_LENGTH" val="24576"/>
  <p:tag name="DOWN_MIGRATION_INITIAL_LAYOUT_REQUIRED" val="9.2.99"/>
  <p:tag name="RUNTIME_ID" val="8d38ae2d-2b1e-4297-a623-f33f2ae5926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BAD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yvcKkTcZTlJrbSwA7ZlP4IEAAAAAAADAAAABAADAAAAAwADAAAABAADAAAAAwADAAMA////////BQAAAAMAEAALxI4X68kf70GFvWLyr50a9QQAAAABAAMAAAACAAMAAAABAAMAAAACAP///////wMAAAAAAP///////wQAAgD///////8FAAAABAAQAAv06QIFxUDuR4EPG7cQQQT0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9wqRNxlOUmttLADtmU/ggREYXRhAAUAAAAAAk5hbWUADQAAAExpbmtEYXRhTGlzdAAQVmVyc2lvbgABAAAACUxhc3RXcml0ZQBkuqVioQEAAAABAP////9hAGEAAAAFX2lkABAAAAAExI4X68kf70GFvWLyr50a9QREYXRhAAUAAAAAAk5hbWUADQAAAExpbmtEYXRhTGlzdAAQVmVyc2lvbgAAAAAACUxhc3RXcml0ZQBiuqVioQEAAAACAP////9wAHAAAAAFX2lkABAAAAAE9OkCBcVA7keBDxu3EEEE9ANEYXRhABYAAAACUGVyc29uYWxJZAABAAAAAAACTmFtZQALAAAAUGVyc29uYWxJZAAQVmVyc2lvbgAAAAAACUxhc3RXcml0ZQCAuq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D///////8DAAMBAwAAAAMA////////DgAGTGlua0RhdGFMaXN0XzAEAAAAAQAFAAAAAAAFAAAAAg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08059696"/>
  <p:tag name="EMPOWERCHARTSPROPERTIES_B_LENGTH" val="24576"/>
  <p:tag name="DOWN_MIGRATION_INITIAL_LAYOUT_REQUIRED" val="9.2.99"/>
  <p:tag name="RUNTIME_ID" val="3eddf638-2b36-40d2-bf95-0feb62bbc08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4VQtHP7YNOiBHLEWdElRcEAAAAAAADAAAABAADAAAAAwADAAMA////////BQAAAAMAEAALzd4T/NKha0qP5q5sb0UlIAQAAAABAAMAAAACAAMAAAABAAMAAAAEAP///////wMAAAAEAP///////wQAAwD///////8FAAAABAAQAAvXXMtUycq2S6p2u28a8k5WBAAAAAIAAwAAAAAAAwAAAAIAAwAAAAA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XhVC0c/tg06IEcsRZ0SVFwREYXRhAAUAAAAAAk5hbWUADQAAAExpbmtEYXRhTGlzdAAQVmVyc2lvbgABAAAACUxhc3RXcml0ZQDgy6VioQEAAAABAP////9hAGEAAAAFX2lkABAAAAAEzd4T/NKha0qP5q5sb0UlIAREYXRhAAUAAAAAAk5hbWUADQAAAExpbmtEYXRhTGlzdAAQVmVyc2lvbgAAAAAACUxhc3RXcml0ZQDfy6VioQEAAAACAP////9wAHAAAAAFX2lkABAAAAAE11zLVMnKtkuqdrtvGvJOVgNEYXRhABYAAAACUGVyc29uYWxJZAABAAAAAAACTmFtZQALAAAAUGVyc29uYWxJZAAQVmVyc2lvbgAAAAAACUxhc3RXcml0ZQD0y6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MBAwAAAAMA////////DgAGTGlua0RhdGFMaXN0XzAEAAAAAQAFAAAAAAAFAAAAAgA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52771828"/>
  <p:tag name="EMPOWERCHARTSPROPERTIES_B_LENGTH" val="24576"/>
  <p:tag name="DOWN_MIGRATION_INITIAL_LAYOUT_REQUIRED" val="9.2.99"/>
  <p:tag name="RUNTIME_ID" val="6fb89817-08a7-4dc4-8d76-66dd3c9622bc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OI3A+KCYhKsmaO4tzY2hwEAAAAAAADAAAAAAADAAAAAwADAAIA////////BQAAAAMAEAAL2uI1Ne7CyEuUPKhdxMdtWwQAAAABAAMAAAACAAMAAAAEAAMAAAAAAP///////wQAAQD///////8FAAAABAAQAAsH2O846mnERZPO+ao+Gb5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Y4jcD4oJiEqyZo7i3NjaHAREYXRhAAUAAAAAAk5hbWUADQAAAExpbmtEYXRhTGlzdAAQVmVyc2lvbgABAAAACUxhc3RXcml0ZQCzt6VioQEAAAABAP////9hAGEAAAAFX2lkABAAAAAE2uI1Ne7CyEuUPKhdxMdtWwREYXRhAAUAAAAAAk5hbWUADQAAAExpbmtEYXRhTGlzdAAQVmVyc2lvbgAAAAAACUxhc3RXcml0ZQCxt6VioQEAAAACAP////9wAHAAAAAFX2lkABAAAAAEB9jvOOppxEWTzvmqPhm+UQNEYXRhABYAAAACUGVyc29uYWxJZAABAAAAAAACTmFtZQALAAAAUGVyc29uYWxJZAAQVmVyc2lvbgAAAAAACUxhc3RXcml0ZQDLt6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01149769"/>
  <p:tag name="EMPOWERCHARTSPROPERTIES_B_LENGTH" val="24576"/>
  <p:tag name="DOWN_MIGRATION_INITIAL_LAYOUT_REQUIRED" val="9.2.99"/>
  <p:tag name="RUNTIME_ID" val="7c03fdc0-d1de-40a7-a68a-99acd594e20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OPHghtukJOg4cclhJ4ofAEAAAAAAADAAAAAAADAAAAAwADAAEA////////BQAAAAMAEAALwPi5zhi470qdG7RkG53lKgQAAAABAAMAAAACAAMAAAAEAAQAAQD///////8FAAAABAAQAAstFdTq7XZbTobqjwfcyUeT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48eCG26Qk6DhxyWEnih8AREYXRhAAUAAAAAAk5hbWUADQAAAExpbmtEYXRhTGlzdAAQVmVyc2lvbgAAAAAACUxhc3RXcml0ZQD8t6VioQEAAAABAP////9hAGEAAAAFX2lkABAAAAAEwPi5zhi470qdG7RkG53lKgREYXRhAAUAAAAAAk5hbWUADQAAAExpbmtEYXRhTGlzdAAQVmVyc2lvbgABAAAACUxhc3RXcml0ZQD8t6VioQEAAAACAP////9wAHAAAAAFX2lkABAAAAAELRXU6u12W06G6o8H3MlHkwNEYXRhABYAAAACUGVyc29uYWxJZAABAAAAAAACTmFtZQALAAAAUGVyc29uYWxJZAAQVmVyc2lvbgAAAAAACUxhc3RXcml0ZQASuK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01801295"/>
  <p:tag name="EMPOWERCHARTSPROPERTIES_B_LENGTH" val="24576"/>
  <p:tag name="DOWN_MIGRATION_INITIAL_LAYOUT_REQUIRED" val="9.2.99"/>
  <p:tag name="RUNTIME_ID" val="c8c13099-c058-4ec6-8909-054966c6301c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2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83MLxcPhp1Gql4tSZEdwRgEAAAAAAADAAAAAAADAAAABAADAAAAAAADAAAAAwADAAAAAAD///////8DAAAAAAD///////8DAAAAAAD///////8DAAIA////////BQAAAAMAEAALEwVTxAVktEOBGTNFkAxJ9gQAAAABAAMAAAAEAAMAAAABAAMAAAACAP///////wQAAQD///////8FAAAABAAQAAvV9lyxDSkxTaMI0oDShyRZ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zcwvFw+GnUaqXi1JkR3BGAREYXRhAAUAAAAAAk5hbWUADQAAAExpbmtEYXRhTGlzdAAQVmVyc2lvbgABAAAACUxhc3RXcml0ZQAlxKVioQEAAAABAP////9hAGEAAAAFX2lkABAAAAAEEwVTxAVktEOBGTNFkAxJ9gREYXRhAAUAAAAAAk5hbWUADQAAAExpbmtEYXRhTGlzdAAQVmVyc2lvbgAAAAAACUxhc3RXcml0ZQAlxKVioQEAAAACAP////9wAHAAAAAFX2lkABAAAAAE1fZcsQ0pMU2jCNKA0ockWQNEYXRhABYAAAACUGVyc29uYWxJZAABAAAAAAACTmFtZQALAAAAUGVyc29uYWxJZAAQVmVyc2lvbgAAAAAACUxhc3RXcml0ZQA+xK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iCwAAAAAAAAAAAAAgAf///////////////wAAAP///////////////wUAAAADAP///////wUAAAAD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EEAAAAAAAFAAAAAwAFAAAABAAFAAAAAwD///////8FAAAAAAD///////8FAAAAAAD///////8FAAAAAAD///////8DAAIBAwAAAAMA////////DgAGTGlua0RhdGFMaXN0XzAEAAAAAQAFAAAAAAAFAAAAAg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33002297"/>
  <p:tag name="EMPOWERCHARTSPROPERTIES_B_LENGTH" val="24576"/>
  <p:tag name="DOWN_MIGRATION_INITIAL_LAYOUT_REQUIRED" val="9.2.99"/>
  <p:tag name="RUNTIME_ID" val="5e331b22-7e4d-4b93-92a1-1f074aa4ab9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f/OomY3fhMnxHdSKYeQTYEAAAAAAADAAAAAAADAAAAAwADAAEA////////BQAAAAMAEAALaxQu1rx+H02GFIDUgpH5lQQAAAABAAMAAAACAAMAAAAEAAQAAQD///////8FAAAABAAQAAtV79bslX20SIvXzDphpOO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R/86iZjd+EyfEd1Iph5BNgREYXRhAAUAAAAAAk5hbWUADQAAAExpbmtEYXRhTGlzdAAQVmVyc2lvbgAAAAAACUxhc3RXcml0ZQDau6VioQEAAAABAP////9hAGEAAAAFX2lkABAAAAAEaxQu1rx+H02GFIDUgpH5lQREYXRhAAUAAAAAAk5hbWUADQAAAExpbmtEYXRhTGlzdAAQVmVyc2lvbgABAAAACUxhc3RXcml0ZQDau6VioQEAAAACAP////9wAHAAAAAFX2lkABAAAAAEVe/W7JV9tEiL18w6YaTjiANEYXRhABYAAAACUGVyc29uYWxJZAABAAAAAAACTmFtZQALAAAAUGVyc29uYWxJZAAQVmVyc2lvbgAAAAAACUxhc3RXcml0ZQDxu6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1911753104"/>
  <p:tag name="EMPOWERCHARTSPROPERTIES_B_LENGTH" val="24576"/>
  <p:tag name="DOWN_MIGRATION_INITIAL_LAYOUT_REQUIRED" val="9.2.99"/>
  <p:tag name="RUNTIME_ID" val="15ae985f-3fb9-4233-9d3f-0c4dda17341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LfQhETbEhLgGSG60V6aFIEAAAAAAADAAAAAAADAAAABAADAAMA////////BQAAAAMAEAALymAzc9OQiEqg5w1tn+83XQQAAAABAAMAAAAEAAMAAAABAAMAAAAEAP///////wMAAAAAAP///////wQAAgD///////8FAAAABAAQAAtdHd0eRHJUS7CHZHRwbXm/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t9CERNsSEuAZIbrRXpoUgREYXRhAAUAAAAAAk5hbWUADQAAAExpbmtEYXRhTGlzdAAQVmVyc2lvbgAAAAAACUxhc3RXcml0ZQB336VioQEAAAABAP////9hAGEAAAAFX2lkABAAAAAEymAzc9OQiEqg5w1tn+83XQREYXRhAAUAAAAAAk5hbWUADQAAAExpbmtEYXRhTGlzdAAQVmVyc2lvbgABAAAACUxhc3RXcml0ZQB336VioQEAAAACAP////9wAHAAAAAFX2lkABAAAAAEXR3dHkRyVEuwh2R0cG15vwNEYXRhABYAAAACUGVyc29uYWxJZAABAAAAAAACTmFtZQALAAAAUGVyc29uYWxJZAAQVmVyc2lvbgAAAAAACUxhc3RXcml0ZQCN36Vio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MBAwAAAAMA////////DgAGTGlua0RhdGFMaXN0XzEEAAAAAQAFAAAAAgAFAAAABAAFAAAAAAD///////8FAAAAAA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282532002900865"/>
  <p:tag name="EMPOWERCHARTSPROPERTIES_B_LENGTH" val="24576"/>
  <p:tag name="DOWN_MIGRATION_INITIAL_LAYOUT_REQUIRED" val="9.2.99"/>
  <p:tag name="RUNTIME_ID" val="cfb43db6-5a8d-4833-aa30-73c819bf16a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GTS 2.0 data flow: from the cabin to usable data</dc:title>
  <dc:subject>5-minute overview of how GTS 2.0 in-cabin data is collected, labelled, uploaded and used</dc:subject>
  <dc:creator>Guo, Heng</dc:creator>
  <cp:keywords/>
  <dc:description>generated using python-pptx</dc:description>
  <cp:lastModifiedBy>Guo, Heng</cp:lastModifiedBy>
  <cp:revision>15</cp:revision>
  <dcterms:created xsi:type="dcterms:W3CDTF">2013-01-27T09:14:16Z</dcterms:created>
  <dcterms:modified xsi:type="dcterms:W3CDTF">2026-10-22T08:13:16Z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